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8"/>
  </p:notesMasterIdLst>
  <p:sldIdLst>
    <p:sldId id="256" r:id="rId2"/>
    <p:sldId id="264" r:id="rId3"/>
    <p:sldId id="280" r:id="rId4"/>
    <p:sldId id="287" r:id="rId5"/>
    <p:sldId id="281" r:id="rId6"/>
    <p:sldId id="282" r:id="rId7"/>
    <p:sldId id="283" r:id="rId8"/>
    <p:sldId id="284" r:id="rId9"/>
    <p:sldId id="285" r:id="rId10"/>
    <p:sldId id="286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9" r:id="rId22"/>
    <p:sldId id="300" r:id="rId23"/>
    <p:sldId id="301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30" r:id="rId44"/>
    <p:sldId id="329" r:id="rId45"/>
    <p:sldId id="328" r:id="rId46"/>
    <p:sldId id="327" r:id="rId47"/>
    <p:sldId id="326" r:id="rId48"/>
    <p:sldId id="325" r:id="rId49"/>
    <p:sldId id="324" r:id="rId50"/>
    <p:sldId id="323" r:id="rId51"/>
    <p:sldId id="333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3" r:id="rId62"/>
    <p:sldId id="344" r:id="rId63"/>
    <p:sldId id="345" r:id="rId64"/>
    <p:sldId id="346" r:id="rId65"/>
    <p:sldId id="347" r:id="rId66"/>
    <p:sldId id="322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280"/>
            <p14:sldId id="287"/>
            <p14:sldId id="281"/>
            <p14:sldId id="282"/>
            <p14:sldId id="283"/>
            <p14:sldId id="284"/>
            <p14:sldId id="285"/>
            <p14:sldId id="286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9"/>
            <p14:sldId id="300"/>
            <p14:sldId id="301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30"/>
            <p14:sldId id="329"/>
            <p14:sldId id="328"/>
            <p14:sldId id="327"/>
            <p14:sldId id="326"/>
            <p14:sldId id="325"/>
            <p14:sldId id="324"/>
            <p14:sldId id="323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D6BA5D-9145-F6E2-27F0-751F5C5A4889}" v="28" dt="2022-12-27T06:17:19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9" autoAdjust="0"/>
    <p:restoredTop sz="96320"/>
  </p:normalViewPr>
  <p:slideViewPr>
    <p:cSldViewPr snapToGrid="0">
      <p:cViewPr varScale="1">
        <p:scale>
          <a:sx n="215" d="100"/>
          <a:sy n="215" d="100"/>
        </p:scale>
        <p:origin x="1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2" d="100"/>
          <a:sy n="122" d="100"/>
        </p:scale>
        <p:origin x="4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6C5DC9A1-9364-42BA-A78B-7C433C3E275D}"/>
    <pc:docChg chg="custSel addSld delSld modSld modSection">
      <pc:chgData name="이효민[ 학부재학 / 사이버국방학과 ]" userId="3929b77a-7aa2-4a96-a97d-3b5ce13f9d26" providerId="ADAL" clId="{6C5DC9A1-9364-42BA-A78B-7C433C3E275D}" dt="2022-01-04T13:25:03.850" v="126" actId="5793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7:33.296" v="115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7:33.296" v="115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045765425" sldId="29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082602585" sldId="30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044177403" sldId="30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607939077" sldId="31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416698218" sldId="31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601295334" sldId="328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141664827" sldId="32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417646756" sldId="33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509551197" sldId="33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396147998" sldId="33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065314893" sldId="336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994696824" sldId="337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4271482761" sldId="338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531992139" sldId="339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701517021" sldId="340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026576549" sldId="341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582896346" sldId="342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97469201" sldId="343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2879546471" sldId="344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1515118274" sldId="345"/>
        </pc:sldMkLst>
      </pc:sldChg>
      <pc:sldChg chg="add del">
        <pc:chgData name="이효민[ 학부재학 / 사이버국방학과 ]" userId="3929b77a-7aa2-4a96-a97d-3b5ce13f9d26" providerId="ADAL" clId="{6C5DC9A1-9364-42BA-A78B-7C433C3E275D}" dt="2022-01-02T20:57:50.471" v="116"/>
        <pc:sldMkLst>
          <pc:docMk/>
          <pc:sldMk cId="3624952614" sldId="346"/>
        </pc:sldMkLst>
      </pc:sldChg>
      <pc:sldChg chg="modSp add del mod">
        <pc:chgData name="이효민[ 학부재학 / 사이버국방학과 ]" userId="3929b77a-7aa2-4a96-a97d-3b5ce13f9d26" providerId="ADAL" clId="{6C5DC9A1-9364-42BA-A78B-7C433C3E275D}" dt="2022-01-04T13:25:03.850" v="126" actId="5793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6C5DC9A1-9364-42BA-A78B-7C433C3E275D}" dt="2022-01-04T13:25:03.850" v="126" actId="5793"/>
          <ac:spMkLst>
            <pc:docMk/>
            <pc:sldMk cId="3636908598" sldId="347"/>
            <ac:spMk id="3" creationId="{F1919A29-26C6-4D1E-A1C6-6211B17B5114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이효민[ 학부재학 / 사이버국방학과 ]" userId="S::lhm1024@korea.ac.kr::3929b77a-7aa2-4a96-a97d-3b5ce13f9d26" providerId="AD" clId="Web-{82D6BA5D-9145-F6E2-27F0-751F5C5A4889}"/>
    <pc:docChg chg="addSld delSld modSld modSection">
      <pc:chgData name="이효민[ 학부재학 / 사이버국방학과 ]" userId="S::lhm1024@korea.ac.kr::3929b77a-7aa2-4a96-a97d-3b5ce13f9d26" providerId="AD" clId="Web-{82D6BA5D-9145-F6E2-27F0-751F5C5A4889}" dt="2022-12-27T06:17:19.215" v="25"/>
      <pc:docMkLst>
        <pc:docMk/>
      </pc:docMkLst>
      <pc:sldChg chg="addSp delSp add del">
        <pc:chgData name="이효민[ 학부재학 / 사이버국방학과 ]" userId="S::lhm1024@korea.ac.kr::3929b77a-7aa2-4a96-a97d-3b5ce13f9d26" providerId="AD" clId="Web-{82D6BA5D-9145-F6E2-27F0-751F5C5A4889}" dt="2022-12-27T06:17:19.215" v="25"/>
        <pc:sldMkLst>
          <pc:docMk/>
          <pc:sldMk cId="4271878798" sldId="256"/>
        </pc:sldMkLst>
        <pc:inkChg chg="add del">
          <ac:chgData name="이효민[ 학부재학 / 사이버국방학과 ]" userId="S::lhm1024@korea.ac.kr::3929b77a-7aa2-4a96-a97d-3b5ce13f9d26" providerId="AD" clId="Web-{82D6BA5D-9145-F6E2-27F0-751F5C5A4889}" dt="2022-12-27T06:15:42.713" v="11"/>
          <ac:inkMkLst>
            <pc:docMk/>
            <pc:sldMk cId="4271878798" sldId="256"/>
            <ac:inkMk id="4" creationId="{36CFC508-E988-C481-0EA2-99C15EB2CBB0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5:39.447" v="10"/>
          <ac:inkMkLst>
            <pc:docMk/>
            <pc:sldMk cId="4271878798" sldId="256"/>
            <ac:inkMk id="5" creationId="{187D5098-7466-F6CF-F1A3-BB19CA180110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5:37.135" v="9"/>
          <ac:inkMkLst>
            <pc:docMk/>
            <pc:sldMk cId="4271878798" sldId="256"/>
            <ac:inkMk id="6" creationId="{A3685601-DAD5-1077-00C3-7B97CEAEAB11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5:34.416" v="8"/>
          <ac:inkMkLst>
            <pc:docMk/>
            <pc:sldMk cId="4271878798" sldId="256"/>
            <ac:inkMk id="7" creationId="{EB1DA4BB-28AB-5155-102F-23DDF8CE97EE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5:32.041" v="7"/>
          <ac:inkMkLst>
            <pc:docMk/>
            <pc:sldMk cId="4271878798" sldId="256"/>
            <ac:inkMk id="8" creationId="{2D3DAF7D-AD64-D4C6-C469-885F5884CF6B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5:29.728" v="6"/>
          <ac:inkMkLst>
            <pc:docMk/>
            <pc:sldMk cId="4271878798" sldId="256"/>
            <ac:inkMk id="9" creationId="{B8B60015-1740-29F5-40C4-F3E25D9157AD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6:57.121" v="19"/>
          <ac:inkMkLst>
            <pc:docMk/>
            <pc:sldMk cId="4271878798" sldId="256"/>
            <ac:inkMk id="10" creationId="{16BB1F57-D51A-BE57-4705-4698519EA8B6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6:54.839" v="18"/>
          <ac:inkMkLst>
            <pc:docMk/>
            <pc:sldMk cId="4271878798" sldId="256"/>
            <ac:inkMk id="11" creationId="{187B1238-3DF6-1D36-7F55-0A6CC739872B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6:54.839" v="17"/>
          <ac:inkMkLst>
            <pc:docMk/>
            <pc:sldMk cId="4271878798" sldId="256"/>
            <ac:inkMk id="12" creationId="{99B8E504-E76F-F4C3-B612-DE21FBE0584C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6:52.386" v="16"/>
          <ac:inkMkLst>
            <pc:docMk/>
            <pc:sldMk cId="4271878798" sldId="256"/>
            <ac:inkMk id="13" creationId="{9BA3F154-DF0C-892A-BB22-E0BA85646DAC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7:19.215" v="25"/>
          <ac:inkMkLst>
            <pc:docMk/>
            <pc:sldMk cId="4271878798" sldId="256"/>
            <ac:inkMk id="14" creationId="{E5AC4DF8-BC4E-2307-C76D-571DFE504062}"/>
          </ac:inkMkLst>
        </pc:inkChg>
        <pc:inkChg chg="add del">
          <ac:chgData name="이효민[ 학부재학 / 사이버국방학과 ]" userId="S::lhm1024@korea.ac.kr::3929b77a-7aa2-4a96-a97d-3b5ce13f9d26" providerId="AD" clId="Web-{82D6BA5D-9145-F6E2-27F0-751F5C5A4889}" dt="2022-12-27T06:17:18.434" v="24"/>
          <ac:inkMkLst>
            <pc:docMk/>
            <pc:sldMk cId="4271878798" sldId="256"/>
            <ac:inkMk id="15" creationId="{F153246F-C891-BA56-5E60-2BE38A43A87C}"/>
          </ac:inkMkLst>
        </pc:inkChg>
      </pc:sldChg>
    </pc:docChg>
  </pc:docChgLst>
  <pc:docChgLst>
    <pc:chgData name="이효민[ 학부재학 / 사이버국방학과 ]" userId="3929b77a-7aa2-4a96-a97d-3b5ce13f9d26" providerId="ADAL" clId="{7F1B0F90-C145-3A46-8114-04B966E590B6}"/>
    <pc:docChg chg="modSld modShowInfo">
      <pc:chgData name="이효민[ 학부재학 / 사이버국방학과 ]" userId="3929b77a-7aa2-4a96-a97d-3b5ce13f9d26" providerId="ADAL" clId="{7F1B0F90-C145-3A46-8114-04B966E590B6}" dt="2022-12-23T11:54:58.498" v="5" actId="20577"/>
      <pc:docMkLst>
        <pc:docMk/>
      </pc:docMkLst>
      <pc:sldChg chg="modSp mod">
        <pc:chgData name="이효민[ 학부재학 / 사이버국방학과 ]" userId="3929b77a-7aa2-4a96-a97d-3b5ce13f9d26" providerId="ADAL" clId="{7F1B0F90-C145-3A46-8114-04B966E590B6}" dt="2022-12-23T11:53:31.861" v="1" actId="20577"/>
        <pc:sldMkLst>
          <pc:docMk/>
          <pc:sldMk cId="3682925829" sldId="311"/>
        </pc:sldMkLst>
        <pc:spChg chg="mod">
          <ac:chgData name="이효민[ 학부재학 / 사이버국방학과 ]" userId="3929b77a-7aa2-4a96-a97d-3b5ce13f9d26" providerId="ADAL" clId="{7F1B0F90-C145-3A46-8114-04B966E590B6}" dt="2022-12-23T11:53:31.861" v="1" actId="20577"/>
          <ac:spMkLst>
            <pc:docMk/>
            <pc:sldMk cId="3682925829" sldId="311"/>
            <ac:spMk id="3" creationId="{68887BA1-812D-4AD5-BCEC-E5698165BB7C}"/>
          </ac:spMkLst>
        </pc:spChg>
      </pc:sldChg>
      <pc:sldChg chg="modSp mod">
        <pc:chgData name="이효민[ 학부재학 / 사이버국방학과 ]" userId="3929b77a-7aa2-4a96-a97d-3b5ce13f9d26" providerId="ADAL" clId="{7F1B0F90-C145-3A46-8114-04B966E590B6}" dt="2022-12-23T11:54:58.498" v="5" actId="20577"/>
        <pc:sldMkLst>
          <pc:docMk/>
          <pc:sldMk cId="228712980" sldId="313"/>
        </pc:sldMkLst>
        <pc:spChg chg="mod">
          <ac:chgData name="이효민[ 학부재학 / 사이버국방학과 ]" userId="3929b77a-7aa2-4a96-a97d-3b5ce13f9d26" providerId="ADAL" clId="{7F1B0F90-C145-3A46-8114-04B966E590B6}" dt="2022-12-23T11:54:58.498" v="5" actId="20577"/>
          <ac:spMkLst>
            <pc:docMk/>
            <pc:sldMk cId="228712980" sldId="313"/>
            <ac:spMk id="3" creationId="{F9FD9AC9-4063-4AC7-86E1-2B0267B5566B}"/>
          </ac:spMkLst>
        </pc:spChg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768D36F3-4CBB-EA4C-A1C8-26AF2202717B}"/>
    <pc:docChg chg="custSel modSld modMainMaster">
      <pc:chgData name="이효민[ 학부재학 / 사이버국방학과 ]" userId="3929b77a-7aa2-4a96-a97d-3b5ce13f9d26" providerId="ADAL" clId="{768D36F3-4CBB-EA4C-A1C8-26AF2202717B}" dt="2022-11-17T05:49:35.455" v="13" actId="478"/>
      <pc:docMkLst>
        <pc:docMk/>
      </pc:docMkLst>
      <pc:sldChg chg="addSp delSp modSp">
        <pc:chgData name="이효민[ 학부재학 / 사이버국방학과 ]" userId="3929b77a-7aa2-4a96-a97d-3b5ce13f9d26" providerId="ADAL" clId="{768D36F3-4CBB-EA4C-A1C8-26AF2202717B}" dt="2022-11-17T05:43:47.412" v="11"/>
        <pc:sldMkLst>
          <pc:docMk/>
          <pc:sldMk cId="2198235405" sldId="285"/>
        </pc:sldMkLst>
        <pc:spChg chg="add del mod">
          <ac:chgData name="이효민[ 학부재학 / 사이버국방학과 ]" userId="3929b77a-7aa2-4a96-a97d-3b5ce13f9d26" providerId="ADAL" clId="{768D36F3-4CBB-EA4C-A1C8-26AF2202717B}" dt="2022-11-17T05:43:47.412" v="11"/>
          <ac:spMkLst>
            <pc:docMk/>
            <pc:sldMk cId="2198235405" sldId="285"/>
            <ac:spMk id="6" creationId="{684D31BA-6467-908A-44AD-B6FA3ED7A310}"/>
          </ac:spMkLst>
        </pc:spChg>
      </pc:sldChg>
      <pc:sldChg chg="addSp delSp modSp mod">
        <pc:chgData name="이효민[ 학부재학 / 사이버국방학과 ]" userId="3929b77a-7aa2-4a96-a97d-3b5ce13f9d26" providerId="ADAL" clId="{768D36F3-4CBB-EA4C-A1C8-26AF2202717B}" dt="2022-11-17T05:49:35.455" v="13" actId="478"/>
        <pc:sldMkLst>
          <pc:docMk/>
          <pc:sldMk cId="3175899499" sldId="295"/>
        </pc:sldMkLst>
        <pc:spChg chg="add del mod">
          <ac:chgData name="이효민[ 학부재학 / 사이버국방학과 ]" userId="3929b77a-7aa2-4a96-a97d-3b5ce13f9d26" providerId="ADAL" clId="{768D36F3-4CBB-EA4C-A1C8-26AF2202717B}" dt="2022-11-17T05:49:35.455" v="13" actId="478"/>
          <ac:spMkLst>
            <pc:docMk/>
            <pc:sldMk cId="3175899499" sldId="295"/>
            <ac:spMk id="6" creationId="{397847AF-369E-85F8-32BE-9D6A781B0137}"/>
          </ac:spMkLst>
        </pc:spChg>
      </pc:sldChg>
      <pc:sldMasterChg chg="delSp modSldLayout">
        <pc:chgData name="이효민[ 학부재학 / 사이버국방학과 ]" userId="3929b77a-7aa2-4a96-a97d-3b5ce13f9d26" providerId="ADAL" clId="{768D36F3-4CBB-EA4C-A1C8-26AF2202717B}" dt="2022-11-04T02:04:16.224" v="9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768D36F3-4CBB-EA4C-A1C8-26AF2202717B}" dt="2022-11-04T02:03:55.045" v="1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768D36F3-4CBB-EA4C-A1C8-26AF2202717B}" dt="2022-11-04T02:03:58.056" v="4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768D36F3-4CBB-EA4C-A1C8-26AF2202717B}" dt="2022-11-04T02:03:58.056" v="4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768D36F3-4CBB-EA4C-A1C8-26AF2202717B}" dt="2022-11-04T02:03:55.948" v="3"/>
          <pc:sldLayoutMkLst>
            <pc:docMk/>
            <pc:sldMasterMk cId="3145777673" sldId="2147483672"/>
            <pc:sldLayoutMk cId="2099084053" sldId="2147483674"/>
          </pc:sldLayoutMkLst>
          <pc:spChg chg="add del mod">
            <ac:chgData name="이효민[ 학부재학 / 사이버국방학과 ]" userId="3929b77a-7aa2-4a96-a97d-3b5ce13f9d26" providerId="ADAL" clId="{768D36F3-4CBB-EA4C-A1C8-26AF2202717B}" dt="2022-11-04T02:03:55.948" v="3"/>
            <ac:spMkLst>
              <pc:docMk/>
              <pc:sldMasterMk cId="3145777673" sldId="2147483672"/>
              <pc:sldLayoutMk cId="2099084053" sldId="2147483674"/>
              <ac:spMk id="6" creationId="{6D5F4A3C-F488-BCA6-3D77-124D6621DE92}"/>
            </ac:spMkLst>
          </pc:spChg>
        </pc:sldLayoutChg>
        <pc:sldLayoutChg chg="delSp">
          <pc:chgData name="이효민[ 학부재학 / 사이버국방학과 ]" userId="3929b77a-7aa2-4a96-a97d-3b5ce13f9d26" providerId="ADAL" clId="{768D36F3-4CBB-EA4C-A1C8-26AF2202717B}" dt="2022-11-04T02:04:00.893" v="5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768D36F3-4CBB-EA4C-A1C8-26AF2202717B}" dt="2022-11-04T02:04:00.893" v="5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delSp">
          <pc:chgData name="이효민[ 학부재학 / 사이버국방학과 ]" userId="3929b77a-7aa2-4a96-a97d-3b5ce13f9d26" providerId="ADAL" clId="{768D36F3-4CBB-EA4C-A1C8-26AF2202717B}" dt="2022-11-04T02:04:07.073" v="6" actId="478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768D36F3-4CBB-EA4C-A1C8-26AF2202717B}" dt="2022-11-04T02:04:07.073" v="6" actId="478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delSp">
          <pc:chgData name="이효민[ 학부재학 / 사이버국방학과 ]" userId="3929b77a-7aa2-4a96-a97d-3b5ce13f9d26" providerId="ADAL" clId="{768D36F3-4CBB-EA4C-A1C8-26AF2202717B}" dt="2022-11-04T02:04:09.762" v="7" actId="478"/>
          <pc:sldLayoutMkLst>
            <pc:docMk/>
            <pc:sldMasterMk cId="3145777673" sldId="2147483672"/>
            <pc:sldLayoutMk cId="2831446787" sldId="2147483680"/>
          </pc:sldLayoutMkLst>
          <pc:picChg chg="del">
            <ac:chgData name="이효민[ 학부재학 / 사이버국방학과 ]" userId="3929b77a-7aa2-4a96-a97d-3b5ce13f9d26" providerId="ADAL" clId="{768D36F3-4CBB-EA4C-A1C8-26AF2202717B}" dt="2022-11-04T02:04:09.762" v="7" actId="478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</pc:sldLayoutChg>
        <pc:sldLayoutChg chg="delSp">
          <pc:chgData name="이효민[ 학부재학 / 사이버국방학과 ]" userId="3929b77a-7aa2-4a96-a97d-3b5ce13f9d26" providerId="ADAL" clId="{768D36F3-4CBB-EA4C-A1C8-26AF2202717B}" dt="2022-11-04T02:04:12.282" v="8" actId="478"/>
          <pc:sldLayoutMkLst>
            <pc:docMk/>
            <pc:sldMasterMk cId="3145777673" sldId="2147483672"/>
            <pc:sldLayoutMk cId="366081474" sldId="2147483681"/>
          </pc:sldLayoutMkLst>
          <pc:picChg chg="del">
            <ac:chgData name="이효민[ 학부재학 / 사이버국방학과 ]" userId="3929b77a-7aa2-4a96-a97d-3b5ce13f9d26" providerId="ADAL" clId="{768D36F3-4CBB-EA4C-A1C8-26AF2202717B}" dt="2022-11-04T02:04:12.282" v="8" actId="478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</pc:sldLayoutChg>
        <pc:sldLayoutChg chg="delSp">
          <pc:chgData name="이효민[ 학부재학 / 사이버국방학과 ]" userId="3929b77a-7aa2-4a96-a97d-3b5ce13f9d26" providerId="ADAL" clId="{768D36F3-4CBB-EA4C-A1C8-26AF2202717B}" dt="2022-11-04T02:04:16.224" v="9" actId="478"/>
          <pc:sldLayoutMkLst>
            <pc:docMk/>
            <pc:sldMasterMk cId="3145777673" sldId="2147483672"/>
            <pc:sldLayoutMk cId="3947021700" sldId="2147483683"/>
          </pc:sldLayoutMkLst>
          <pc:picChg chg="del">
            <ac:chgData name="이효민[ 학부재학 / 사이버국방학과 ]" userId="3929b77a-7aa2-4a96-a97d-3b5ce13f9d26" providerId="ADAL" clId="{768D36F3-4CBB-EA4C-A1C8-26AF2202717B}" dt="2022-11-04T02:04:16.224" v="9" actId="478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2022-12-26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hrome.google.com/webstore/detail/proxy-switchyomega/padekgcemlokbadohgkifijomclgjgif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hackerfactory.co.kr/wargame/war1/index.php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aver.com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mailto:firstname.lastname@somecompany.com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logic-flaws/examples/lab-logic-flaws-high-level" TargetMode="External"/><Relationship Id="rId2" Type="http://schemas.openxmlformats.org/officeDocument/2006/relationships/hyperlink" Target="https://portswigger.net/web-security/logic-flaws/examples/lab-logic-flaws-excessive-trust-in-client-side-contro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swigger.net/web-security/authentication/password-based/lab-username-enumeration-via-different-responses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웹에 대한 이해</a:t>
            </a:r>
            <a:endParaRPr lang="en-US" altLang="ko-KR" dirty="0"/>
          </a:p>
          <a:p>
            <a:r>
              <a:rPr lang="en-US" altLang="ko-KR" dirty="0"/>
              <a:t>Parameter tampering</a:t>
            </a:r>
          </a:p>
          <a:p>
            <a:r>
              <a:rPr lang="en-US" altLang="ko-KR" dirty="0"/>
              <a:t>Brute-force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7BD9F-06EB-4BB0-BBEE-8A41094F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4384DA-A238-451B-9717-C9C13E150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652605-BD06-4E28-9215-822002CBC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01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83151-2BED-43D6-B8DC-228CA1E2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/>
              <a:t>– URL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4EB2F-3717-4E22-B007-061BD307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8C06B8-F906-4740-92E5-32282A663D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2714115"/>
            <a:ext cx="10058400" cy="22256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814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54508-E310-4BEA-B5AB-BADD2E080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</a:t>
            </a:r>
            <a:r>
              <a:rPr lang="ko-KR" altLang="en-US" dirty="0"/>
              <a:t>프로토콜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34BB58-AEE2-4B68-865D-0476F882B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프로토콜 </a:t>
            </a:r>
            <a:r>
              <a:rPr lang="en-US" altLang="ko-KR"/>
              <a:t>(protocol)</a:t>
            </a:r>
            <a:endParaRPr lang="en-US" altLang="ko-KR" dirty="0"/>
          </a:p>
          <a:p>
            <a:pPr lvl="1"/>
            <a:r>
              <a:rPr lang="ko-KR" altLang="en-US" dirty="0"/>
              <a:t>통신할 때 쓰는 약속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요청을 했을 때 정해진 응답 규칙이 있어야 함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B2297E-6569-4465-AB4D-E8615779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4098" name="Picture 2" descr="Communication protocol - Wikiwand">
            <a:extLst>
              <a:ext uri="{FF2B5EF4-FFF2-40B4-BE49-F238E27FC236}">
                <a16:creationId xmlns:a16="http://schemas.microsoft.com/office/drawing/2014/main" id="{0BB43DFB-C583-4D16-90BB-CBE25606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914" y="2866938"/>
            <a:ext cx="4609400" cy="27132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164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BA865-CF65-4010-BB59-B00EDDF0A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</a:t>
            </a:r>
            <a:r>
              <a:rPr lang="ko-KR" altLang="en-US" dirty="0"/>
              <a:t>프로토콜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4C30C4-B2FD-46BF-BF72-ECFD9697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(Hyper Text Transfer Protocol)</a:t>
            </a:r>
          </a:p>
          <a:p>
            <a:pPr lvl="1"/>
            <a:r>
              <a:rPr lang="ko-KR" altLang="en-US" dirty="0"/>
              <a:t>웹 상에서 정보를 주고 받을 수 있는 프로토콜</a:t>
            </a:r>
            <a:endParaRPr lang="en-US" altLang="ko-KR" dirty="0"/>
          </a:p>
          <a:p>
            <a:r>
              <a:rPr lang="en-US" altLang="ko-KR" dirty="0"/>
              <a:t>HTTPS</a:t>
            </a:r>
          </a:p>
          <a:p>
            <a:pPr lvl="1"/>
            <a:r>
              <a:rPr lang="en-US" altLang="ko-KR" dirty="0"/>
              <a:t>HTTP</a:t>
            </a:r>
            <a:r>
              <a:rPr lang="ko-KR" altLang="en-US" dirty="0"/>
              <a:t>를 암호화하여 데이터를 주고 받는 통신 규약</a:t>
            </a:r>
            <a:endParaRPr lang="en-US" altLang="ko-KR" dirty="0"/>
          </a:p>
          <a:p>
            <a:pPr lvl="1"/>
            <a:r>
              <a:rPr lang="ko-KR" altLang="en-US" dirty="0"/>
              <a:t>중간자 공격 등을 막을 수 있음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https</a:t>
            </a:r>
            <a:r>
              <a:rPr lang="en-US" altLang="ko-KR" dirty="0"/>
              <a:t>://www.naver.com/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E55D01-2E0C-4111-A112-5B978BE8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623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49832-D44D-4E33-AD64-DC9BD83B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016D38-302E-4EEF-9AF6-E466FA82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9E32A0-6EA5-4B3A-B1FE-DA668D2398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466" y="1893760"/>
            <a:ext cx="8379902" cy="4022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871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83793-EAB3-421A-88BA-95F7E882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1DE448-1DDB-4CF9-A605-C112ADE87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</a:t>
            </a:r>
            <a:r>
              <a:rPr lang="ko-KR" altLang="en-US" dirty="0"/>
              <a:t>와 </a:t>
            </a:r>
            <a:r>
              <a:rPr lang="en-US" altLang="ko-KR" dirty="0"/>
              <a:t>Response</a:t>
            </a:r>
            <a:r>
              <a:rPr lang="ko-KR" altLang="en-US" dirty="0"/>
              <a:t> 는 </a:t>
            </a:r>
            <a:r>
              <a:rPr lang="en-US" altLang="ko-KR" dirty="0"/>
              <a:t>Header</a:t>
            </a:r>
            <a:r>
              <a:rPr lang="ko-KR" altLang="en-US" dirty="0"/>
              <a:t>와 </a:t>
            </a:r>
            <a:r>
              <a:rPr lang="en-US" altLang="ko-KR" dirty="0"/>
              <a:t>Body</a:t>
            </a:r>
            <a:r>
              <a:rPr lang="ko-KR" altLang="en-US" dirty="0"/>
              <a:t>로 이루어져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06E8C-77E3-4B2F-8793-50C7D7A97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1C5F7F-847B-4A91-83B6-03AD4BA48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086" y="2318129"/>
            <a:ext cx="6493827" cy="35983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892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Method</a:t>
            </a:r>
            <a:r>
              <a:rPr lang="en-US" altLang="ko-KR" dirty="0"/>
              <a:t>, </a:t>
            </a:r>
            <a:r>
              <a:rPr lang="ko-KR" altLang="en-US" dirty="0"/>
              <a:t>서버에게 어떤 명령을 실행할지 알려주는 역할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/>
              <a:t>GET, POST, PUT, DELETE, HEAD, OPTIONS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GET </a:t>
            </a:r>
            <a:r>
              <a:rPr lang="en-US" altLang="ko-KR" dirty="0"/>
              <a:t>/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19823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PATH</a:t>
            </a:r>
            <a:r>
              <a:rPr lang="en-US" altLang="ko-KR" dirty="0"/>
              <a:t>, </a:t>
            </a:r>
            <a:r>
              <a:rPr lang="ko-KR" altLang="en-US" dirty="0"/>
              <a:t>요청하는 파일 </a:t>
            </a:r>
            <a:r>
              <a:rPr lang="en-US" altLang="ko-KR" dirty="0"/>
              <a:t>(index.html,</a:t>
            </a:r>
            <a:r>
              <a:rPr lang="ko-KR" altLang="en-US" dirty="0"/>
              <a:t> </a:t>
            </a:r>
            <a:r>
              <a:rPr lang="en-US" altLang="ko-KR" dirty="0" err="1"/>
              <a:t>login.php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요청에 </a:t>
            </a:r>
            <a:r>
              <a:rPr lang="en-US" altLang="ko-KR" dirty="0"/>
              <a:t>GET </a:t>
            </a:r>
            <a:r>
              <a:rPr lang="ko-KR" altLang="en-US" dirty="0"/>
              <a:t>파라미터를 전달할 경우 </a:t>
            </a:r>
            <a:r>
              <a:rPr lang="en-US" altLang="ko-KR" b="1" dirty="0"/>
              <a:t>&amp;parameter=value</a:t>
            </a:r>
            <a:r>
              <a:rPr lang="ko-KR" altLang="en-US" dirty="0"/>
              <a:t> 의 형태로 값을 전달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dirty="0" smtClean="0"/>
              <a:pPr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/</a:t>
            </a:r>
            <a:r>
              <a:rPr lang="en-US" altLang="ko-KR" dirty="0"/>
              <a:t>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98559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Version</a:t>
            </a:r>
            <a:r>
              <a:rPr lang="en-US" altLang="ko-KR" dirty="0"/>
              <a:t>, HTTP </a:t>
            </a:r>
            <a:r>
              <a:rPr lang="ko-KR" altLang="en-US" dirty="0"/>
              <a:t>버전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</a:t>
            </a:r>
            <a:r>
              <a:rPr lang="en-US" altLang="ko-KR" dirty="0">
                <a:solidFill>
                  <a:srgbClr val="FF0000"/>
                </a:solidFill>
              </a:rPr>
              <a:t>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87982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Host</a:t>
            </a:r>
            <a:r>
              <a:rPr lang="en-US" altLang="ko-KR" dirty="0"/>
              <a:t>, </a:t>
            </a:r>
            <a:r>
              <a:rPr lang="ko-KR" altLang="en-US" dirty="0"/>
              <a:t>요청 도메인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HTTP/1.1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99300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User-Agent</a:t>
            </a:r>
            <a:r>
              <a:rPr lang="en-US" altLang="ko-KR" dirty="0"/>
              <a:t>, </a:t>
            </a:r>
            <a:r>
              <a:rPr lang="ko-KR" altLang="en-US" dirty="0"/>
              <a:t>브라우저와</a:t>
            </a:r>
            <a:r>
              <a:rPr lang="en-US" altLang="ko-KR" dirty="0"/>
              <a:t> </a:t>
            </a:r>
            <a:r>
              <a:rPr lang="ko-KR" altLang="en-US" dirty="0"/>
              <a:t>접속 기기 정보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웹 어플리케이션이 이 내용을 확인하고 각 플랫폼 별로 다르게 동작할 수 있도록 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User-Agent</a:t>
            </a:r>
            <a:r>
              <a:rPr lang="en-US" altLang="ko-KR" dirty="0"/>
              <a:t>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124154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Accept</a:t>
            </a:r>
            <a:r>
              <a:rPr lang="en-US" altLang="ko-KR" dirty="0"/>
              <a:t>, </a:t>
            </a:r>
            <a:r>
              <a:rPr lang="ko-KR" altLang="en-US" dirty="0"/>
              <a:t>클라이언트가 어떤 </a:t>
            </a:r>
            <a:r>
              <a:rPr lang="en-US" altLang="ko-KR" dirty="0"/>
              <a:t>content type</a:t>
            </a:r>
            <a:r>
              <a:rPr lang="ko-KR" altLang="en-US" dirty="0"/>
              <a:t>을 처리할 수 있는지 서버에게 알려줌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2792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Accept</a:t>
            </a:r>
            <a:r>
              <a:rPr lang="en-US" altLang="ko-KR" dirty="0"/>
              <a:t>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Accept-Encoding</a:t>
            </a:r>
            <a:r>
              <a:rPr lang="en-US" altLang="ko-KR" dirty="0"/>
              <a:t>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Accept-Language</a:t>
            </a:r>
            <a:r>
              <a:rPr lang="en-US" altLang="ko-KR" dirty="0"/>
              <a:t>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127239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 err="1">
                <a:solidFill>
                  <a:srgbClr val="FF0000"/>
                </a:solidFill>
              </a:rPr>
              <a:t>Referer</a:t>
            </a:r>
            <a:r>
              <a:rPr lang="en-US" altLang="ko-KR" dirty="0"/>
              <a:t>,  </a:t>
            </a:r>
            <a:r>
              <a:rPr lang="ko-KR" altLang="en-US" dirty="0"/>
              <a:t>경유지 </a:t>
            </a:r>
            <a:r>
              <a:rPr lang="en-US" altLang="ko-KR" dirty="0" err="1"/>
              <a:t>url</a:t>
            </a:r>
            <a:r>
              <a:rPr lang="en-US" altLang="ko-KR" dirty="0"/>
              <a:t> - </a:t>
            </a:r>
            <a:r>
              <a:rPr lang="ko-KR" altLang="en-US" dirty="0"/>
              <a:t>이전 웹 페이지의 주소를 알려준다</a:t>
            </a:r>
            <a:r>
              <a:rPr lang="en-US" altLang="ko-KR" dirty="0"/>
              <a:t>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웹사이트 내부에서 내부로의 이동인지</a:t>
            </a:r>
            <a:r>
              <a:rPr lang="en-US" altLang="ko-KR" dirty="0"/>
              <a:t>, </a:t>
            </a:r>
            <a:r>
              <a:rPr lang="ko-KR" altLang="en-US" dirty="0"/>
              <a:t>외부에서 요청된 것인지 알 수 있다</a:t>
            </a:r>
            <a:r>
              <a:rPr lang="en-US" altLang="ko-KR" dirty="0"/>
              <a:t>.</a:t>
            </a:r>
          </a:p>
          <a:p>
            <a:pPr>
              <a:buFont typeface="Symbol" panose="05050102010706020507" pitchFamily="18" charset="2"/>
              <a:buChar char="Þ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2406602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Cookie</a:t>
            </a:r>
            <a:r>
              <a:rPr lang="en-US" altLang="ko-KR" dirty="0"/>
              <a:t>, </a:t>
            </a:r>
            <a:r>
              <a:rPr lang="ko-KR" altLang="en-US" dirty="0"/>
              <a:t>인증 정보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세션 정보를 유지하기 위해서 사용함</a:t>
            </a:r>
            <a:r>
              <a:rPr lang="en-US" altLang="ko-KR" dirty="0"/>
              <a:t>. (</a:t>
            </a:r>
            <a:r>
              <a:rPr lang="ko-KR" altLang="en-US" dirty="0"/>
              <a:t>로그인 유지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GET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/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Accept: text/</a:t>
            </a:r>
            <a:r>
              <a:rPr lang="en-US" altLang="ko-KR" dirty="0" err="1"/>
              <a:t>html,application</a:t>
            </a:r>
            <a:r>
              <a:rPr lang="en-US" altLang="ko-KR" dirty="0"/>
              <a:t>/</a:t>
            </a:r>
            <a:r>
              <a:rPr lang="en-US" altLang="ko-KR" dirty="0" err="1"/>
              <a:t>xhtml+xml,application</a:t>
            </a:r>
            <a:r>
              <a:rPr lang="en-US" altLang="ko-KR" dirty="0"/>
              <a:t>/</a:t>
            </a:r>
            <a:r>
              <a:rPr lang="en-US" altLang="ko-KR" dirty="0" err="1"/>
              <a:t>xml;q</a:t>
            </a:r>
            <a:r>
              <a:rPr lang="en-US" altLang="ko-KR" dirty="0"/>
              <a:t>=0.9 …</a:t>
            </a:r>
          </a:p>
          <a:p>
            <a:r>
              <a:rPr lang="en-US" altLang="ko-KR" dirty="0"/>
              <a:t>Accept-Encoding: </a:t>
            </a:r>
            <a:r>
              <a:rPr lang="en-US" altLang="ko-KR" dirty="0" err="1"/>
              <a:t>gzip</a:t>
            </a:r>
            <a:r>
              <a:rPr lang="en-US" altLang="ko-KR" dirty="0"/>
              <a:t>, deflate</a:t>
            </a:r>
          </a:p>
          <a:p>
            <a:r>
              <a:rPr lang="en-US" altLang="ko-KR" dirty="0"/>
              <a:t>Accept-Language: </a:t>
            </a:r>
            <a:r>
              <a:rPr lang="en-US" altLang="ko-KR" dirty="0" err="1"/>
              <a:t>ko-KR,ko;q</a:t>
            </a:r>
            <a:r>
              <a:rPr lang="en-US" altLang="ko-KR" dirty="0"/>
              <a:t>=0.9,en-US;q=0.8,en;q=0.7</a:t>
            </a:r>
          </a:p>
          <a:p>
            <a:r>
              <a:rPr lang="en-US" altLang="ko-KR" dirty="0" err="1"/>
              <a:t>Referer</a:t>
            </a:r>
            <a:r>
              <a:rPr lang="en-US" altLang="ko-KR" dirty="0"/>
              <a:t>: https://www.naver.com/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Cookie</a:t>
            </a:r>
            <a:r>
              <a:rPr lang="en-US" altLang="ko-KR" dirty="0"/>
              <a:t>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16627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Request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rgbClr val="FF0000"/>
                </a:solidFill>
              </a:rPr>
              <a:t>Content-Length</a:t>
            </a:r>
            <a:r>
              <a:rPr lang="en-US" altLang="ko-KR" dirty="0"/>
              <a:t>,  </a:t>
            </a:r>
            <a:r>
              <a:rPr lang="en-US" altLang="ko-KR" dirty="0">
                <a:solidFill>
                  <a:srgbClr val="FF0000"/>
                </a:solidFill>
              </a:rPr>
              <a:t>Content-Type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ko-KR" dirty="0">
                <a:solidFill>
                  <a:schemeClr val="tx1"/>
                </a:solidFill>
              </a:rPr>
              <a:t>HTTP Body</a:t>
            </a:r>
            <a:r>
              <a:rPr lang="ko-KR" altLang="en-US" dirty="0">
                <a:solidFill>
                  <a:schemeClr val="tx1"/>
                </a:solidFill>
              </a:rPr>
              <a:t>의 종류와 길이를 알려주는 헤더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066800" y="2211781"/>
            <a:ext cx="100584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Content-Length</a:t>
            </a:r>
            <a:r>
              <a:rPr lang="en-US" altLang="ko-KR" dirty="0"/>
              <a:t>: &lt;length&gt;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Content-Type</a:t>
            </a:r>
            <a:r>
              <a:rPr lang="en-US" altLang="ko-KR" dirty="0"/>
              <a:t>: text/html; charset=utf-8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Content-Type</a:t>
            </a:r>
            <a:r>
              <a:rPr lang="en-US" altLang="ko-KR" dirty="0"/>
              <a:t>: multipart/form-data; boundary=something</a:t>
            </a:r>
          </a:p>
          <a:p>
            <a:r>
              <a:rPr lang="en-US" altLang="ko-K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6087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C8F9E-1A2E-4149-87D5-D7A752984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133CE-E410-4827-9D25-DBE617DB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08E23A-B2A4-4E40-BBC2-0EBFD03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85DDE-6121-4C33-97FB-1E569514EC31}"/>
              </a:ext>
            </a:extLst>
          </p:cNvPr>
          <p:cNvSpPr txBox="1"/>
          <p:nvPr/>
        </p:nvSpPr>
        <p:spPr>
          <a:xfrm>
            <a:off x="1473200" y="2161611"/>
            <a:ext cx="9621520" cy="375487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200 OK</a:t>
            </a:r>
          </a:p>
          <a:p>
            <a:r>
              <a:rPr lang="en-US" altLang="ko-KR" sz="1400" dirty="0"/>
              <a:t>Access-Control-Allow-Origin: *</a:t>
            </a:r>
          </a:p>
          <a:p>
            <a:r>
              <a:rPr lang="en-US" altLang="ko-KR" sz="1400" dirty="0"/>
              <a:t>Connection: Keep-Alive</a:t>
            </a:r>
          </a:p>
          <a:p>
            <a:r>
              <a:rPr lang="en-US" altLang="ko-KR" sz="1400" dirty="0"/>
              <a:t>Content-Encoding: </a:t>
            </a:r>
            <a:r>
              <a:rPr lang="en-US" altLang="ko-KR" sz="1400" dirty="0" err="1"/>
              <a:t>gzip</a:t>
            </a:r>
            <a:endParaRPr lang="en-US" altLang="ko-KR" sz="1400" dirty="0"/>
          </a:p>
          <a:p>
            <a:r>
              <a:rPr lang="en-US" altLang="ko-KR" sz="1400" dirty="0"/>
              <a:t>Content-Type: text/html; charset=utf-8</a:t>
            </a:r>
          </a:p>
          <a:p>
            <a:r>
              <a:rPr lang="en-US" altLang="ko-KR" sz="1400" dirty="0"/>
              <a:t>Date: Mon, 18 Jul 2016 16:06:00 GMT</a:t>
            </a:r>
          </a:p>
          <a:p>
            <a:r>
              <a:rPr lang="en-US" altLang="ko-KR" sz="1400" dirty="0" err="1"/>
              <a:t>Etag</a:t>
            </a:r>
            <a:r>
              <a:rPr lang="en-US" altLang="ko-KR" sz="1400" dirty="0"/>
              <a:t>: "c561c68d0ba92bbeb8b0f612a9199f722e3a621a"</a:t>
            </a:r>
          </a:p>
          <a:p>
            <a:r>
              <a:rPr lang="en-US" altLang="ko-KR" sz="1400" dirty="0"/>
              <a:t>Keep-Alive: timeout=5, max=997</a:t>
            </a:r>
          </a:p>
          <a:p>
            <a:r>
              <a:rPr lang="en-US" altLang="ko-KR" sz="1400" dirty="0"/>
              <a:t>Last-Modified: Mon, 18 Jul 2016 02:36:04 GMT</a:t>
            </a:r>
          </a:p>
          <a:p>
            <a:r>
              <a:rPr lang="en-US" altLang="ko-KR" sz="1400" dirty="0"/>
              <a:t>Server: Apache</a:t>
            </a:r>
          </a:p>
          <a:p>
            <a:r>
              <a:rPr lang="en-US" altLang="ko-KR" sz="1400" dirty="0"/>
              <a:t>Set-Cookie: </a:t>
            </a:r>
            <a:r>
              <a:rPr lang="en-US" altLang="ko-KR" sz="1400" dirty="0" err="1"/>
              <a:t>mykey</a:t>
            </a:r>
            <a:r>
              <a:rPr lang="en-US" altLang="ko-KR" sz="1400" dirty="0"/>
              <a:t>=</a:t>
            </a:r>
            <a:r>
              <a:rPr lang="en-US" altLang="ko-KR" sz="1400" dirty="0" err="1"/>
              <a:t>myvalue</a:t>
            </a:r>
            <a:r>
              <a:rPr lang="en-US" altLang="ko-KR" sz="1400" dirty="0"/>
              <a:t>; expires=Mon, 17-Jul-2017 16:06:00 GMT; Max-Age=31449600; Path=/; secure</a:t>
            </a:r>
          </a:p>
          <a:p>
            <a:r>
              <a:rPr lang="en-US" altLang="ko-KR" sz="1400" dirty="0"/>
              <a:t>Transfer-Encoding: chunked</a:t>
            </a:r>
          </a:p>
          <a:p>
            <a:r>
              <a:rPr lang="en-US" altLang="ko-KR" sz="1400" dirty="0"/>
              <a:t>Vary: Cookie, Accept-Encoding</a:t>
            </a:r>
          </a:p>
          <a:p>
            <a:r>
              <a:rPr lang="en-US" altLang="ko-KR" sz="1400" dirty="0"/>
              <a:t>X-Backend-Server: developer2.webapp.scl3.mozilla.com</a:t>
            </a:r>
          </a:p>
          <a:p>
            <a:r>
              <a:rPr lang="en-US" altLang="ko-KR" sz="1400" dirty="0"/>
              <a:t>X-Cache-Info: not cacheable; meta data too large</a:t>
            </a:r>
          </a:p>
          <a:p>
            <a:r>
              <a:rPr lang="en-US" altLang="ko-KR" sz="1400" dirty="0"/>
              <a:t>X-</a:t>
            </a:r>
            <a:r>
              <a:rPr lang="en-US" altLang="ko-KR" sz="1400" dirty="0" err="1"/>
              <a:t>kuma</a:t>
            </a:r>
            <a:r>
              <a:rPr lang="en-US" altLang="ko-KR" sz="1400" dirty="0"/>
              <a:t>-revision: 1085259</a:t>
            </a:r>
          </a:p>
          <a:p>
            <a:r>
              <a:rPr lang="en-US" altLang="ko-KR" sz="1400" dirty="0"/>
              <a:t>x-frame-options: DENY</a:t>
            </a:r>
          </a:p>
        </p:txBody>
      </p:sp>
    </p:spTree>
    <p:extLst>
      <p:ext uri="{BB962C8B-B14F-4D97-AF65-F5344CB8AC3E}">
        <p14:creationId xmlns:p14="http://schemas.microsoft.com/office/powerpoint/2010/main" val="317589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r>
              <a:rPr lang="ko-KR" altLang="en-US" b="1" dirty="0"/>
              <a:t>응답</a:t>
            </a:r>
            <a:r>
              <a:rPr lang="en-US" altLang="ko-KR" b="1" dirty="0"/>
              <a:t> </a:t>
            </a:r>
            <a:r>
              <a:rPr lang="ko-KR" altLang="en-US" b="1" dirty="0"/>
              <a:t>코드</a:t>
            </a:r>
            <a:endParaRPr lang="en-US" altLang="ko-KR" b="1" dirty="0"/>
          </a:p>
          <a:p>
            <a:pPr lvl="1"/>
            <a:r>
              <a:rPr lang="en-US" altLang="ko-KR" dirty="0"/>
              <a:t>101(Switching Protocols): </a:t>
            </a:r>
            <a:r>
              <a:rPr lang="ko-KR" altLang="en-US" dirty="0"/>
              <a:t>프로토콜 변경</a:t>
            </a:r>
            <a:endParaRPr lang="en-US" altLang="ko-KR" dirty="0"/>
          </a:p>
          <a:p>
            <a:pPr lvl="1"/>
            <a:r>
              <a:rPr lang="en-US" altLang="ko-KR" dirty="0"/>
              <a:t>200(OK): </a:t>
            </a:r>
            <a:r>
              <a:rPr lang="ko-KR" altLang="en-US" dirty="0"/>
              <a:t>요청이 정상적으로 완료</a:t>
            </a:r>
            <a:endParaRPr lang="en-US" altLang="ko-KR" dirty="0"/>
          </a:p>
          <a:p>
            <a:pPr lvl="1"/>
            <a:r>
              <a:rPr lang="en-US" altLang="ko-KR" dirty="0"/>
              <a:t>201(Created): </a:t>
            </a:r>
            <a:r>
              <a:rPr lang="ko-KR" altLang="en-US" dirty="0"/>
              <a:t>리소스 생성이 완료</a:t>
            </a:r>
            <a:endParaRPr lang="en-US" altLang="ko-KR" dirty="0"/>
          </a:p>
          <a:p>
            <a:pPr lvl="1"/>
            <a:r>
              <a:rPr lang="en-US" altLang="ko-KR" dirty="0"/>
              <a:t>301(Moved Permanently): Location </a:t>
            </a:r>
            <a:r>
              <a:rPr lang="ko-KR" altLang="en-US" dirty="0"/>
              <a:t>헤더에 정의된 </a:t>
            </a:r>
            <a:r>
              <a:rPr lang="en-US" altLang="ko-KR" dirty="0"/>
              <a:t>URL</a:t>
            </a:r>
            <a:r>
              <a:rPr lang="ko-KR" altLang="en-US" dirty="0"/>
              <a:t>로 </a:t>
            </a:r>
            <a:r>
              <a:rPr lang="en-US" altLang="ko-KR" dirty="0"/>
              <a:t>redirection</a:t>
            </a:r>
          </a:p>
          <a:p>
            <a:pPr lvl="1"/>
            <a:r>
              <a:rPr lang="en-US" altLang="ko-KR" dirty="0"/>
              <a:t>304(Not Modified): </a:t>
            </a:r>
            <a:r>
              <a:rPr lang="ko-KR" altLang="en-US" dirty="0" err="1"/>
              <a:t>캐시된</a:t>
            </a:r>
            <a:r>
              <a:rPr lang="ko-KR" altLang="en-US" dirty="0"/>
              <a:t> 사본과 동일</a:t>
            </a:r>
            <a:endParaRPr lang="en-US" altLang="ko-KR" dirty="0"/>
          </a:p>
          <a:p>
            <a:pPr lvl="1"/>
            <a:r>
              <a:rPr lang="en-US" altLang="ko-KR" dirty="0"/>
              <a:t>401(Unauthorized): </a:t>
            </a:r>
            <a:r>
              <a:rPr lang="ko-KR" altLang="en-US" dirty="0"/>
              <a:t>인증에 실패함</a:t>
            </a:r>
            <a:r>
              <a:rPr lang="en-US" altLang="ko-KR" dirty="0"/>
              <a:t>. </a:t>
            </a:r>
            <a:r>
              <a:rPr lang="ko-KR" altLang="en-US" dirty="0"/>
              <a:t>아이디나 패스워드가 잘못되었을 때 발생</a:t>
            </a:r>
            <a:endParaRPr lang="en-US" altLang="ko-KR" dirty="0"/>
          </a:p>
          <a:p>
            <a:pPr lvl="1"/>
            <a:r>
              <a:rPr lang="en-US" altLang="ko-KR" dirty="0"/>
              <a:t>403(Forbidden): </a:t>
            </a:r>
            <a:r>
              <a:rPr lang="ko-KR" altLang="en-US" dirty="0"/>
              <a:t>리소스에 대한 권한이 없음</a:t>
            </a:r>
            <a:endParaRPr lang="en-US" altLang="ko-KR" dirty="0"/>
          </a:p>
          <a:p>
            <a:pPr lvl="1"/>
            <a:r>
              <a:rPr lang="en-US" altLang="ko-KR" dirty="0"/>
              <a:t>404(Not Found): </a:t>
            </a:r>
            <a:r>
              <a:rPr lang="ko-KR" altLang="en-US" dirty="0"/>
              <a:t>해당 리소스가 존재하지 않음</a:t>
            </a:r>
            <a:endParaRPr lang="en-US" altLang="ko-KR" dirty="0"/>
          </a:p>
          <a:p>
            <a:pPr lvl="1"/>
            <a:r>
              <a:rPr lang="en-US" altLang="ko-KR" dirty="0"/>
              <a:t>500(Internal Server Error): </a:t>
            </a:r>
            <a:r>
              <a:rPr lang="ko-KR" altLang="en-US" dirty="0"/>
              <a:t>서버 내부에서 에러가 발생함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6816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r>
              <a:rPr lang="ko-KR" altLang="en-US" b="1" dirty="0"/>
              <a:t>응답</a:t>
            </a:r>
            <a:r>
              <a:rPr lang="en-US" altLang="ko-KR" b="1" dirty="0"/>
              <a:t> </a:t>
            </a:r>
            <a:r>
              <a:rPr lang="ko-KR" altLang="en-US" b="1" dirty="0"/>
              <a:t>헤더</a:t>
            </a:r>
            <a:endParaRPr lang="en-US" altLang="ko-KR" b="1" dirty="0"/>
          </a:p>
          <a:p>
            <a:pPr lvl="1"/>
            <a:r>
              <a:rPr lang="en-US" altLang="ko-KR" dirty="0"/>
              <a:t>Server: </a:t>
            </a:r>
          </a:p>
          <a:p>
            <a:pPr lvl="2"/>
            <a:r>
              <a:rPr lang="ko-KR" altLang="en-US" dirty="0"/>
              <a:t>웹 서버와 웹 프레임워크의 버전 등의 정보를 알려준다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보안상의 이유로</a:t>
            </a:r>
            <a:r>
              <a:rPr lang="en-US" altLang="ko-KR" dirty="0"/>
              <a:t>, </a:t>
            </a:r>
            <a:r>
              <a:rPr lang="ko-KR" altLang="en-US" dirty="0"/>
              <a:t>버전 정보를 삭제하여 전송하는 경우도 있음</a:t>
            </a:r>
            <a:endParaRPr lang="en-US" altLang="ko-KR" dirty="0"/>
          </a:p>
          <a:p>
            <a:pPr lvl="1"/>
            <a:r>
              <a:rPr lang="en-US" altLang="ko-KR" dirty="0"/>
              <a:t>Set-Cookie:</a:t>
            </a:r>
          </a:p>
          <a:p>
            <a:pPr lvl="2"/>
            <a:r>
              <a:rPr lang="ko-KR" altLang="en-US" dirty="0"/>
              <a:t>서버에서 클라이언트로 쿠키를 전달할 때 사용</a:t>
            </a:r>
            <a:endParaRPr lang="en-US" altLang="ko-KR" dirty="0"/>
          </a:p>
          <a:p>
            <a:pPr lvl="2"/>
            <a:r>
              <a:rPr lang="ko-KR" altLang="en-US" dirty="0"/>
              <a:t>웹 브라우저에 저장되고</a:t>
            </a:r>
            <a:r>
              <a:rPr lang="en-US" altLang="ko-KR" dirty="0"/>
              <a:t>, </a:t>
            </a:r>
            <a:r>
              <a:rPr lang="ko-KR" altLang="en-US" dirty="0"/>
              <a:t>유효기간 동안 요청 메시지의 </a:t>
            </a:r>
            <a:r>
              <a:rPr lang="en-US" altLang="ko-KR" dirty="0"/>
              <a:t>Cookie </a:t>
            </a:r>
            <a:r>
              <a:rPr lang="ko-KR" altLang="en-US" dirty="0"/>
              <a:t>헤더를 통해 다시 전송</a:t>
            </a:r>
            <a:endParaRPr lang="en-US" altLang="ko-KR" dirty="0"/>
          </a:p>
          <a:p>
            <a:pPr lvl="1"/>
            <a:r>
              <a:rPr lang="en-US" altLang="ko-KR" dirty="0"/>
              <a:t>Expires:</a:t>
            </a:r>
          </a:p>
          <a:p>
            <a:pPr lvl="2"/>
            <a:r>
              <a:rPr lang="ko-KR" altLang="en-US" dirty="0"/>
              <a:t>쿠키의 유효기간을 설정</a:t>
            </a:r>
            <a:endParaRPr lang="en-US" altLang="ko-KR" dirty="0"/>
          </a:p>
          <a:p>
            <a:pPr lvl="1"/>
            <a:r>
              <a:rPr lang="en-US" altLang="ko-KR" dirty="0"/>
              <a:t>Path:</a:t>
            </a:r>
          </a:p>
          <a:p>
            <a:pPr lvl="2"/>
            <a:r>
              <a:rPr lang="ko-KR" altLang="en-US" dirty="0"/>
              <a:t>쿠키를 전송할 리소스의 경로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5765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r>
              <a:rPr lang="ko-KR" altLang="en-US" b="1" dirty="0"/>
              <a:t>응답</a:t>
            </a:r>
            <a:r>
              <a:rPr lang="en-US" altLang="ko-KR" b="1" dirty="0"/>
              <a:t> </a:t>
            </a:r>
            <a:r>
              <a:rPr lang="ko-KR" altLang="en-US" b="1" dirty="0"/>
              <a:t>헤더</a:t>
            </a:r>
            <a:endParaRPr lang="en-US" altLang="ko-KR" b="1" dirty="0"/>
          </a:p>
          <a:p>
            <a:pPr lvl="1"/>
            <a:r>
              <a:rPr lang="en-US" altLang="ko-KR" dirty="0"/>
              <a:t>Secure:</a:t>
            </a:r>
          </a:p>
          <a:p>
            <a:pPr lvl="2"/>
            <a:r>
              <a:rPr lang="en-US" altLang="ko-KR" dirty="0"/>
              <a:t>Secure</a:t>
            </a:r>
            <a:r>
              <a:rPr lang="ko-KR" altLang="en-US" dirty="0"/>
              <a:t> 옵션을 지정한 쿠키는 </a:t>
            </a:r>
            <a:r>
              <a:rPr lang="en-US" altLang="ko-KR" dirty="0"/>
              <a:t>HTTP </a:t>
            </a:r>
            <a:r>
              <a:rPr lang="ko-KR" altLang="en-US" dirty="0"/>
              <a:t>요청 시에는 전달되지 않고</a:t>
            </a:r>
            <a:r>
              <a:rPr lang="en-US" altLang="ko-KR" dirty="0"/>
              <a:t>, HTTPS </a:t>
            </a:r>
            <a:r>
              <a:rPr lang="ko-KR" altLang="en-US" dirty="0"/>
              <a:t>프로토콜을 사용하여 요청이 암호화되어 전송할 때만 전달</a:t>
            </a:r>
            <a:endParaRPr lang="en-US" altLang="ko-KR" dirty="0"/>
          </a:p>
          <a:p>
            <a:pPr lvl="2"/>
            <a:r>
              <a:rPr lang="ko-KR" altLang="en-US" dirty="0" err="1"/>
              <a:t>스니핑</a:t>
            </a:r>
            <a:r>
              <a:rPr lang="ko-KR" altLang="en-US" dirty="0"/>
              <a:t> 공격을 막을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HttpOnly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자바스크립트가 쿠키에 접근할 수 없게 하는 설정</a:t>
            </a:r>
            <a:endParaRPr lang="en-US" altLang="ko-KR" dirty="0"/>
          </a:p>
          <a:p>
            <a:pPr lvl="2"/>
            <a:r>
              <a:rPr lang="en-US" altLang="ko-KR" dirty="0"/>
              <a:t>XSS </a:t>
            </a:r>
            <a:r>
              <a:rPr lang="ko-KR" altLang="en-US" dirty="0"/>
              <a:t>취약점을 이용한 쿠키 노출을 예방할 수 있음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518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r>
              <a:rPr lang="ko-KR" altLang="en-US" b="1" dirty="0"/>
              <a:t>응답</a:t>
            </a:r>
            <a:r>
              <a:rPr lang="en-US" altLang="ko-KR" b="1" dirty="0"/>
              <a:t> </a:t>
            </a:r>
            <a:r>
              <a:rPr lang="ko-KR" altLang="en-US" b="1" dirty="0"/>
              <a:t>헤더</a:t>
            </a:r>
            <a:endParaRPr lang="en-US" altLang="ko-KR" b="1" dirty="0"/>
          </a:p>
          <a:p>
            <a:pPr lvl="1"/>
            <a:r>
              <a:rPr lang="en-US" altLang="ko-KR" b="1" dirty="0"/>
              <a:t>X-Frame-Options</a:t>
            </a:r>
          </a:p>
          <a:p>
            <a:pPr lvl="2"/>
            <a:r>
              <a:rPr lang="en-US" altLang="ko-KR" dirty="0"/>
              <a:t>&lt;frame&gt; </a:t>
            </a:r>
            <a:r>
              <a:rPr lang="ko-KR" altLang="en-US" dirty="0"/>
              <a:t>이나 </a:t>
            </a:r>
            <a:r>
              <a:rPr lang="en-US" altLang="ko-KR" dirty="0"/>
              <a:t>&lt;iframe&gt; </a:t>
            </a:r>
            <a:r>
              <a:rPr lang="ko-KR" altLang="en-US" dirty="0"/>
              <a:t>등을 사용하여 웹 페이지가 출력되는 것을 제어하기 위한 헤더</a:t>
            </a:r>
            <a:endParaRPr lang="en-US" altLang="ko-KR" dirty="0"/>
          </a:p>
          <a:p>
            <a:pPr lvl="2"/>
            <a:r>
              <a:rPr lang="ko-KR" altLang="en-US" dirty="0" err="1"/>
              <a:t>클릭재킹</a:t>
            </a:r>
            <a:r>
              <a:rPr lang="ko-KR" altLang="en-US" dirty="0"/>
              <a:t> 공격 방지</a:t>
            </a:r>
            <a:endParaRPr lang="en-US" altLang="ko-KR" dirty="0"/>
          </a:p>
          <a:p>
            <a:pPr lvl="2"/>
            <a:r>
              <a:rPr lang="en-US" altLang="ko-KR" b="1" dirty="0"/>
              <a:t>DENY</a:t>
            </a:r>
          </a:p>
          <a:p>
            <a:pPr lvl="3"/>
            <a:r>
              <a:rPr lang="ko-KR" altLang="en-US" dirty="0">
                <a:solidFill>
                  <a:schemeClr val="tx1"/>
                </a:solidFill>
              </a:rPr>
              <a:t>어떠한 경우에도 프레임 내에서 웹 페이지를 표시하지 않는다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en-US" altLang="ko-KR" b="1" dirty="0"/>
              <a:t>SAMEORIGIN</a:t>
            </a:r>
          </a:p>
          <a:p>
            <a:pPr lvl="3"/>
            <a:r>
              <a:rPr lang="ko-KR" altLang="en-US" dirty="0"/>
              <a:t>같은 도메인 안에서 요청된 웹 페이지만 프레임으로 표시할 수 있도록 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450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- HTTP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Response Header</a:t>
            </a:r>
          </a:p>
          <a:p>
            <a:r>
              <a:rPr lang="ko-KR" altLang="en-US" b="1" dirty="0"/>
              <a:t>응답</a:t>
            </a:r>
            <a:r>
              <a:rPr lang="en-US" altLang="ko-KR" b="1" dirty="0"/>
              <a:t> </a:t>
            </a:r>
            <a:r>
              <a:rPr lang="ko-KR" altLang="en-US" b="1" dirty="0"/>
              <a:t>헤더</a:t>
            </a:r>
            <a:endParaRPr lang="en-US" altLang="ko-KR" b="1" dirty="0"/>
          </a:p>
          <a:p>
            <a:pPr lvl="1"/>
            <a:r>
              <a:rPr lang="en-US" altLang="ko-KR" b="1" dirty="0"/>
              <a:t>X-XSS-Protection</a:t>
            </a:r>
          </a:p>
          <a:p>
            <a:pPr lvl="2"/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XSS</a:t>
            </a:r>
            <a:r>
              <a:rPr lang="ko-KR" altLang="en-US" dirty="0"/>
              <a:t> 공격이 탐지되었을 때</a:t>
            </a:r>
            <a:r>
              <a:rPr lang="en-US" altLang="ko-KR" dirty="0"/>
              <a:t>, </a:t>
            </a:r>
            <a:r>
              <a:rPr lang="ko-KR" altLang="en-US" dirty="0"/>
              <a:t>웹 페이지가 로딩되는 것을 </a:t>
            </a:r>
            <a:r>
              <a:rPr lang="ko-KR" altLang="en-US" dirty="0" err="1"/>
              <a:t>막아줌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X-XSS-Protection: 1; mode=block</a:t>
            </a:r>
          </a:p>
          <a:p>
            <a:pPr lvl="2"/>
            <a:r>
              <a:rPr lang="ko-KR" altLang="en-US" dirty="0"/>
              <a:t>일부 조치를 취할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260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7050A-7AD8-4717-9179-5D1FB71E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URL Encoding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87BA1-812D-4AD5-BCEC-E5698165B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URL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문자를 표현하는 문자 인코딩 방법</a:t>
            </a:r>
            <a:endParaRPr lang="en-US" altLang="ko-KR" dirty="0"/>
          </a:p>
          <a:p>
            <a:r>
              <a:rPr lang="en-US" altLang="ko-KR" dirty="0"/>
              <a:t>16</a:t>
            </a:r>
            <a:r>
              <a:rPr lang="ko-KR" altLang="en-US" dirty="0"/>
              <a:t>진수 값으로 인코딩함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F2F3E-74B4-4E78-BE98-0991107A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812D78-24A1-4126-AD8A-9AE70944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731" y="3544596"/>
            <a:ext cx="7430537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925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86A82-D74A-4282-A07D-067E5411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</a:t>
            </a:r>
            <a:r>
              <a:rPr lang="ko-KR" altLang="en-US" dirty="0"/>
              <a:t>과 </a:t>
            </a:r>
            <a:r>
              <a:rPr lang="en-US" altLang="ko-KR" dirty="0"/>
              <a:t>POST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D9AC9-4063-4AC7-86E1-2B0267B55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라는 변수에 </a:t>
            </a:r>
            <a:r>
              <a:rPr lang="en-US" altLang="ko-KR" dirty="0"/>
              <a:t>test</a:t>
            </a:r>
            <a:r>
              <a:rPr lang="ko-KR" altLang="en-US" dirty="0"/>
              <a:t>라는 값을 넣어 전송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6C037-2A85-48F2-AF02-AA48133F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E43DA-9AB5-4588-A2EB-19DA7BEE4091}"/>
              </a:ext>
            </a:extLst>
          </p:cNvPr>
          <p:cNvSpPr txBox="1"/>
          <p:nvPr/>
        </p:nvSpPr>
        <p:spPr>
          <a:xfrm>
            <a:off x="1066800" y="2690336"/>
            <a:ext cx="1005840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GET </a:t>
            </a:r>
            <a:r>
              <a:rPr lang="en-US" altLang="ko-KR" dirty="0"/>
              <a:t>/</a:t>
            </a:r>
            <a:r>
              <a:rPr lang="en-US" altLang="ko-KR" dirty="0" err="1"/>
              <a:t>search.naver</a:t>
            </a:r>
            <a:r>
              <a:rPr lang="en-US" altLang="ko-KR" dirty="0" err="1">
                <a:solidFill>
                  <a:srgbClr val="FF0000"/>
                </a:solidFill>
              </a:rPr>
              <a:t>?query</a:t>
            </a:r>
            <a:r>
              <a:rPr lang="en-US" altLang="ko-KR" dirty="0">
                <a:solidFill>
                  <a:srgbClr val="FF0000"/>
                </a:solidFill>
              </a:rPr>
              <a:t>=test</a:t>
            </a:r>
            <a:r>
              <a:rPr lang="en-US" altLang="ko-KR" dirty="0"/>
              <a:t>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</p:txBody>
      </p:sp>
    </p:spTree>
    <p:extLst>
      <p:ext uri="{BB962C8B-B14F-4D97-AF65-F5344CB8AC3E}">
        <p14:creationId xmlns:p14="http://schemas.microsoft.com/office/powerpoint/2010/main" val="3564423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86A82-D74A-4282-A07D-067E5411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</a:t>
            </a:r>
            <a:r>
              <a:rPr lang="ko-KR" altLang="en-US" dirty="0"/>
              <a:t>과 </a:t>
            </a:r>
            <a:r>
              <a:rPr lang="en-US" altLang="ko-KR" dirty="0"/>
              <a:t>POST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FD9AC9-4063-4AC7-86E1-2B0267B55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query</a:t>
            </a:r>
            <a:r>
              <a:rPr lang="ko-KR" altLang="en-US" dirty="0"/>
              <a:t>라는 변수에 </a:t>
            </a:r>
            <a:r>
              <a:rPr lang="en-US" altLang="ko-KR" dirty="0"/>
              <a:t>test</a:t>
            </a:r>
            <a:r>
              <a:rPr lang="ko-KR" altLang="en-US" dirty="0"/>
              <a:t>라는 값을 넣어 전송</a:t>
            </a:r>
            <a:endParaRPr lang="en-US" altLang="ko-KR" dirty="0"/>
          </a:p>
          <a:p>
            <a:r>
              <a:rPr lang="en-US" altLang="ko-KR" dirty="0"/>
              <a:t>HTTP</a:t>
            </a:r>
            <a:r>
              <a:rPr lang="ko-KR" altLang="en-US" dirty="0"/>
              <a:t> </a:t>
            </a:r>
            <a:r>
              <a:rPr lang="en-US" altLang="ko-KR" dirty="0"/>
              <a:t>Body</a:t>
            </a:r>
            <a:r>
              <a:rPr lang="ko-KR" altLang="en-US" dirty="0"/>
              <a:t>를 통하여 전송된다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6C037-2A85-48F2-AF02-AA48133F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E43DA-9AB5-4588-A2EB-19DA7BEE4091}"/>
              </a:ext>
            </a:extLst>
          </p:cNvPr>
          <p:cNvSpPr txBox="1"/>
          <p:nvPr/>
        </p:nvSpPr>
        <p:spPr>
          <a:xfrm>
            <a:off x="1066800" y="2690336"/>
            <a:ext cx="1005840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POST </a:t>
            </a:r>
            <a:r>
              <a:rPr lang="en-US" altLang="ko-KR" dirty="0"/>
              <a:t>/</a:t>
            </a:r>
            <a:r>
              <a:rPr lang="en-US" altLang="ko-KR" dirty="0" err="1"/>
              <a:t>search.naver</a:t>
            </a:r>
            <a:r>
              <a:rPr lang="en-US" altLang="ko-KR" dirty="0"/>
              <a:t> HTTP/1.1</a:t>
            </a:r>
          </a:p>
          <a:p>
            <a:r>
              <a:rPr lang="en-US" altLang="ko-KR" dirty="0"/>
              <a:t>Host: www.naver.com</a:t>
            </a:r>
          </a:p>
          <a:p>
            <a:r>
              <a:rPr lang="en-US" altLang="ko-KR" dirty="0"/>
              <a:t>User-Agent: Mozilla/5.0 (Windows NT 10.0; Win64; x64) </a:t>
            </a:r>
            <a:r>
              <a:rPr lang="en-US" altLang="ko-KR" dirty="0" err="1"/>
              <a:t>AppleWebKit</a:t>
            </a:r>
            <a:r>
              <a:rPr lang="en-US" altLang="ko-KR" dirty="0"/>
              <a:t>/537.36 (KHTML, like Gecko) Chrome/85.0.4183.121 Safari/537.36</a:t>
            </a:r>
          </a:p>
          <a:p>
            <a:r>
              <a:rPr lang="en-US" altLang="ko-KR" dirty="0"/>
              <a:t>Cookie: NNB=UDJ323FKJE3DSE32; </a:t>
            </a:r>
            <a:r>
              <a:rPr lang="en-US" altLang="ko-KR" dirty="0" err="1"/>
              <a:t>nrefreshx</a:t>
            </a:r>
            <a:r>
              <a:rPr lang="en-US" altLang="ko-KR" dirty="0"/>
              <a:t>=0</a:t>
            </a:r>
          </a:p>
          <a:p>
            <a:r>
              <a:rPr lang="en-US" altLang="ko-KR" dirty="0"/>
              <a:t>Content-Length: 10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Content-Type: application/x-www-form-</a:t>
            </a:r>
            <a:r>
              <a:rPr lang="en-US" altLang="ko-KR" dirty="0" err="1">
                <a:solidFill>
                  <a:srgbClr val="FF0000"/>
                </a:solidFill>
              </a:rPr>
              <a:t>urlencoded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query=test</a:t>
            </a:r>
          </a:p>
        </p:txBody>
      </p:sp>
    </p:spTree>
    <p:extLst>
      <p:ext uri="{BB962C8B-B14F-4D97-AF65-F5344CB8AC3E}">
        <p14:creationId xmlns:p14="http://schemas.microsoft.com/office/powerpoint/2010/main" val="228712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BA5F4-AE2E-47C2-A7E1-2FDF0568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</a:t>
            </a:r>
            <a:r>
              <a:rPr lang="ko-KR" altLang="en-US" dirty="0"/>
              <a:t>과 </a:t>
            </a:r>
            <a:r>
              <a:rPr lang="en-US" altLang="ko-KR" dirty="0"/>
              <a:t>POST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A9BE6-B8B2-4B9A-9D02-8C2694B9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GET</a:t>
            </a:r>
          </a:p>
          <a:p>
            <a:pPr lvl="1"/>
            <a:r>
              <a:rPr lang="en-US" altLang="ko-KR" dirty="0"/>
              <a:t>GET</a:t>
            </a:r>
            <a:r>
              <a:rPr lang="ko-KR" altLang="en-US" dirty="0"/>
              <a:t>의 모든 파라미터는 </a:t>
            </a:r>
            <a:r>
              <a:rPr lang="en-US" altLang="ko-KR" b="1" dirty="0"/>
              <a:t>URL</a:t>
            </a:r>
            <a:r>
              <a:rPr lang="ko-KR" altLang="en-US" dirty="0"/>
              <a:t>을 통해 전달</a:t>
            </a:r>
            <a:endParaRPr lang="en-US" altLang="ko-KR" dirty="0"/>
          </a:p>
          <a:p>
            <a:pPr lvl="1"/>
            <a:r>
              <a:rPr lang="en-US" altLang="ko-KR" dirty="0"/>
              <a:t>URL </a:t>
            </a:r>
            <a:r>
              <a:rPr lang="ko-KR" altLang="en-US" dirty="0"/>
              <a:t>길이가 제한되어 있으므로 </a:t>
            </a:r>
            <a:r>
              <a:rPr lang="ko-KR" altLang="en-US" b="1" dirty="0"/>
              <a:t>많은 양 전송 불가</a:t>
            </a:r>
            <a:endParaRPr lang="en-US" altLang="ko-KR" b="1" dirty="0"/>
          </a:p>
          <a:p>
            <a:pPr lvl="1"/>
            <a:r>
              <a:rPr lang="ko-KR" altLang="en-US" b="1" dirty="0"/>
              <a:t>사용자 눈에 직접적</a:t>
            </a:r>
            <a:r>
              <a:rPr lang="ko-KR" altLang="en-US" dirty="0"/>
              <a:t>으로 표시</a:t>
            </a:r>
            <a:endParaRPr lang="en-US" altLang="ko-KR" dirty="0"/>
          </a:p>
          <a:p>
            <a:r>
              <a:rPr lang="en-US" altLang="ko-KR" dirty="0"/>
              <a:t>POST</a:t>
            </a:r>
          </a:p>
          <a:p>
            <a:pPr lvl="1"/>
            <a:r>
              <a:rPr lang="en-US" altLang="ko-KR" dirty="0"/>
              <a:t>POST</a:t>
            </a:r>
            <a:r>
              <a:rPr lang="ko-KR" altLang="en-US" dirty="0"/>
              <a:t>의 모든 파라미터는 </a:t>
            </a:r>
            <a:r>
              <a:rPr lang="en-US" altLang="ko-KR" b="1" dirty="0"/>
              <a:t>HTTP Body</a:t>
            </a:r>
            <a:r>
              <a:rPr lang="ko-KR" altLang="en-US" dirty="0"/>
              <a:t>에 포함되어 전달</a:t>
            </a:r>
            <a:endParaRPr lang="en-US" altLang="ko-KR" dirty="0"/>
          </a:p>
          <a:p>
            <a:pPr lvl="1"/>
            <a:r>
              <a:rPr lang="en-US" altLang="ko-KR" dirty="0"/>
              <a:t>POST</a:t>
            </a:r>
            <a:r>
              <a:rPr lang="ko-KR" altLang="en-US" dirty="0"/>
              <a:t>는 </a:t>
            </a:r>
            <a:r>
              <a:rPr lang="en-US" altLang="ko-KR" dirty="0"/>
              <a:t>Body</a:t>
            </a:r>
            <a:r>
              <a:rPr lang="ko-KR" altLang="en-US" dirty="0"/>
              <a:t>에 포함되어 전송되므로 </a:t>
            </a:r>
            <a:r>
              <a:rPr lang="ko-KR" altLang="en-US" b="1" dirty="0"/>
              <a:t>길이제한 없음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Body</a:t>
            </a:r>
            <a:r>
              <a:rPr lang="ko-KR" altLang="en-US" dirty="0"/>
              <a:t>에 포함되어 전송되므로 </a:t>
            </a:r>
            <a:r>
              <a:rPr lang="ko-KR" altLang="en-US" b="1" dirty="0"/>
              <a:t>직접적으로 표시되지 않음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F0BDA-3118-4FD3-BBCD-39A831DF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555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B999-6D35-4238-897A-363966CD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8B4CB-C73E-4A99-8CAB-2234FF8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1026" name="Picture 2" descr="JSP] 5.request, response">
            <a:extLst>
              <a:ext uri="{FF2B5EF4-FFF2-40B4-BE49-F238E27FC236}">
                <a16:creationId xmlns:a16="http://schemas.microsoft.com/office/drawing/2014/main" id="{AFC31C06-10E2-44F0-8D8F-449BEC9558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957" y="2360521"/>
            <a:ext cx="7794085" cy="32867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0296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B999-6D35-4238-897A-363966CD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8B4CB-C73E-4A99-8CAB-2234FF8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1026" name="Picture 2" descr="JSP] 5.request, response">
            <a:extLst>
              <a:ext uri="{FF2B5EF4-FFF2-40B4-BE49-F238E27FC236}">
                <a16:creationId xmlns:a16="http://schemas.microsoft.com/office/drawing/2014/main" id="{AFC31C06-10E2-44F0-8D8F-449BEC9558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957" y="2351556"/>
            <a:ext cx="7794085" cy="3286726"/>
          </a:xfrm>
          <a:prstGeom prst="rect">
            <a:avLst/>
          </a:prstGeom>
          <a:noFill/>
        </p:spPr>
      </p:pic>
      <p:sp>
        <p:nvSpPr>
          <p:cNvPr id="3" name="번개 2">
            <a:extLst>
              <a:ext uri="{FF2B5EF4-FFF2-40B4-BE49-F238E27FC236}">
                <a16:creationId xmlns:a16="http://schemas.microsoft.com/office/drawing/2014/main" id="{9B130410-2953-410D-883F-5965DFCE2D9B}"/>
              </a:ext>
            </a:extLst>
          </p:cNvPr>
          <p:cNvSpPr/>
          <p:nvPr/>
        </p:nvSpPr>
        <p:spPr>
          <a:xfrm>
            <a:off x="5823182" y="2687782"/>
            <a:ext cx="606595" cy="1736436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939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2A5EA-9DF9-40BD-8CBE-93846FD6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ACA2A7-FA49-4095-9072-93FD8A69B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사용자가 물건을 장바구니에 넣는다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방금 추가했던 장바구니 목록을 불러온다</a:t>
            </a:r>
            <a:r>
              <a:rPr lang="en-US" altLang="ko-KR" dirty="0"/>
              <a:t>.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연관의 작업을 하기 위해서는</a:t>
            </a:r>
            <a:r>
              <a:rPr lang="en-US" altLang="ko-KR" dirty="0"/>
              <a:t>?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dirty="0"/>
              <a:t>단순한 </a:t>
            </a:r>
            <a:r>
              <a:rPr lang="en-US" altLang="ko-KR" dirty="0"/>
              <a:t>request/response</a:t>
            </a:r>
            <a:r>
              <a:rPr lang="ko-KR" altLang="en-US" dirty="0"/>
              <a:t>는 연결을 끊어 버리기 때문에 클라이언트의 이전 상태를 알 수 없음</a:t>
            </a:r>
            <a:r>
              <a:rPr lang="en-US" altLang="ko-KR" dirty="0"/>
              <a:t>.</a:t>
            </a:r>
          </a:p>
          <a:p>
            <a:pPr>
              <a:buFont typeface="Symbol" panose="05050102010706020507" pitchFamily="18" charset="2"/>
              <a:buChar char="Þ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067BF-961A-4601-AB5F-D2D8555C9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66982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5B999-6D35-4238-897A-363966CD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A8B4CB-C73E-4A99-8CAB-2234FF8A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00F0718-138F-4C85-94B3-74B4393CD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해커가 이 쿠키를 가로챈다면</a:t>
            </a:r>
            <a:r>
              <a:rPr lang="en-US" altLang="ko-KR" dirty="0"/>
              <a:t>? </a:t>
            </a:r>
          </a:p>
          <a:p>
            <a:r>
              <a:rPr lang="ko-KR" altLang="en-US" dirty="0"/>
              <a:t>사용자 권한을 획득하게 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Picture 2" descr="JSP] 5.request, response">
            <a:extLst>
              <a:ext uri="{FF2B5EF4-FFF2-40B4-BE49-F238E27FC236}">
                <a16:creationId xmlns:a16="http://schemas.microsoft.com/office/drawing/2014/main" id="{71F5EE69-DE88-49D5-BE89-E474304B1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957" y="2544357"/>
            <a:ext cx="7794085" cy="32867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7838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6D740-5894-472B-8921-3846456F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653EF2-65FE-449B-BA14-559DC3D4A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r>
              <a:rPr lang="ko-KR" altLang="en-US" dirty="0"/>
              <a:t> 는 변조에 취약함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사용자의 컴퓨터에 저장되는 작은 기록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11975-DAAF-4998-B665-EA1173B7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C552762-9890-4544-8988-5CF973386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253" y="2718911"/>
            <a:ext cx="8078327" cy="2800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4188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C2AB0-035E-4D4D-82C0-93FAEA36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97017C-B042-4287-B45E-F564580E1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세션은 서버에 저장되는 정보임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서버가 클라이언트를 식별하기 위함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12CAA1-23D8-4262-AF5C-622392F4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4136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ED2FB-1ABA-457B-B063-0E34D2FC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Cookie</a:t>
            </a:r>
            <a:r>
              <a:rPr lang="ko-KR" altLang="en-US" dirty="0"/>
              <a:t>와 </a:t>
            </a:r>
            <a:r>
              <a:rPr lang="en-US" altLang="ko-KR" dirty="0"/>
              <a:t>Session</a:t>
            </a:r>
            <a:r>
              <a:rPr lang="ko-KR" altLang="en-US" dirty="0"/>
              <a:t>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64595-BD79-4CC2-887C-1CF03BDA4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C4EC1-67B6-4E74-8C60-A8D073A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2ED7C8-0C63-4289-91E5-470F76EC7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757" y="2199927"/>
            <a:ext cx="8316486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7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2ACD6-CE66-4BFC-B54E-BD59B5EC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DA64C0-5266-4756-847C-790AC8CA6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사용하고 있는 브라우저와 서버 간의 통신을 할 때</a:t>
            </a:r>
            <a:r>
              <a:rPr lang="en-US" altLang="ko-KR" dirty="0"/>
              <a:t>, </a:t>
            </a:r>
            <a:r>
              <a:rPr lang="ko-KR" altLang="en-US" b="1" dirty="0"/>
              <a:t>중간에서 클라이언트가 요청하고 받는 데이터를 서버로 재전송</a:t>
            </a:r>
            <a:r>
              <a:rPr lang="ko-KR" altLang="en-US" dirty="0"/>
              <a:t>을 해주는 역할</a:t>
            </a:r>
            <a:endParaRPr lang="en-US" altLang="ko-KR" dirty="0"/>
          </a:p>
          <a:p>
            <a:r>
              <a:rPr lang="en-US" altLang="ko-KR" dirty="0"/>
              <a:t>Burp suite, Fiddler, OWASP ZAP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D36D4-D8C3-4465-AB8E-1DDCC84D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4177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AF10E-F7F5-4278-B4CD-CE7320AC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22057B-6123-468A-AB64-F9E200C17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https://portswigger.net/burp/releases/professional-community-2021-6-2?requestededition=community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9A4E2-B873-4087-94FE-BDDE8034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863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34C2C-FB71-426A-A0D7-77558090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B150AAD-36B8-43F5-854F-41150089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125077"/>
            <a:ext cx="10058400" cy="338889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A6BD3-E0E0-48B7-AD7C-346B908B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915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84E84-B9A6-4752-AB58-33EE3C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784B55-EE68-4536-9A18-7F9975355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869" y="1808163"/>
            <a:ext cx="2726588" cy="402272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848B5-F581-4446-B557-A5F8D02A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414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6A6F9-35DA-4490-8ACC-80CAD111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DC8B7-000B-4F14-B014-A77BFECB0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4CEA8D-A352-440A-BBB4-06863D24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B1549F-192E-46D9-8D54-8A7158783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967" y="2138182"/>
            <a:ext cx="852606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24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1CE9C-3734-4D54-A473-B2EB7C73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D24E5B9-A4EC-40D2-A9F4-8E806DACC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531" y="1815560"/>
            <a:ext cx="3221343" cy="402272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91556-3077-4775-A807-5263DC71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D1E005-76CA-421C-B5E5-D0DDA1945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6134"/>
            <a:ext cx="3989133" cy="343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78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1CE9C-3734-4D54-A473-B2EB7C73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91556-3077-4775-A807-5263DC71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7512CB4-649F-4A3F-8047-DAAFA0C3F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 err="1">
                <a:solidFill>
                  <a:srgbClr val="000000"/>
                </a:solidFill>
                <a:effectLst/>
                <a:latin typeface="Ubuntu Condensed"/>
              </a:rPr>
              <a:t>SwitchyOmega</a:t>
            </a:r>
            <a:endParaRPr lang="en-US" altLang="ko-KR" b="0" i="0" dirty="0">
              <a:solidFill>
                <a:srgbClr val="000000"/>
              </a:solidFill>
              <a:effectLst/>
              <a:latin typeface="Ubuntu Condensed"/>
            </a:endParaRP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/>
                <a:hlinkClick r:id="rId2"/>
              </a:rPr>
              <a:t>https://chrome.google.com/webstore/detail/proxy-switchyomega/padekgcemlokbadohgkifijomclgjgif</a:t>
            </a:r>
            <a:endParaRPr lang="en-US" altLang="ko-KR" b="0" i="0" dirty="0">
              <a:solidFill>
                <a:srgbClr val="000000"/>
              </a:solidFill>
              <a:effectLst/>
              <a:latin typeface="Ubuntu Condensed"/>
            </a:endParaRPr>
          </a:p>
          <a:p>
            <a:r>
              <a:rPr lang="ko-KR" altLang="en-US" dirty="0"/>
              <a:t>해당 도메인만 설정 가능</a:t>
            </a:r>
            <a:br>
              <a:rPr lang="ko-KR" altLang="en-US" dirty="0"/>
            </a:b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C8510F8-057D-4EAA-ABA1-964B126A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310" y="2090374"/>
            <a:ext cx="267689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91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70ADB-BD29-4327-9BE9-F30CC492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웹에 대한 이해 </a:t>
            </a:r>
            <a:r>
              <a:rPr lang="en-US" altLang="ko-KR" dirty="0"/>
              <a:t>– Web Proxy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6EE15E-190D-48D0-81E7-68C5EF763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Burp suite open </a:t>
            </a:r>
            <a:r>
              <a:rPr lang="en-US" altLang="ko-KR" dirty="0" err="1"/>
              <a:t>borwser</a:t>
            </a:r>
            <a:endParaRPr lang="en-US" altLang="ko-KR" dirty="0"/>
          </a:p>
          <a:p>
            <a:r>
              <a:rPr lang="ko-KR" altLang="en-US" dirty="0" err="1"/>
              <a:t>버프슈트에서</a:t>
            </a:r>
            <a:r>
              <a:rPr lang="ko-KR" altLang="en-US" dirty="0"/>
              <a:t> 브라우저를 </a:t>
            </a:r>
            <a:r>
              <a:rPr lang="en-US" altLang="ko-KR" dirty="0"/>
              <a:t>open </a:t>
            </a:r>
            <a:r>
              <a:rPr lang="ko-KR" altLang="en-US" dirty="0"/>
              <a:t>하여</a:t>
            </a:r>
            <a:r>
              <a:rPr lang="en-US" altLang="ko-KR" dirty="0"/>
              <a:t>, </a:t>
            </a:r>
            <a:r>
              <a:rPr lang="ko-KR" altLang="en-US" dirty="0"/>
              <a:t>해당 창 만을 </a:t>
            </a:r>
            <a:r>
              <a:rPr lang="en-US" altLang="ko-KR" dirty="0"/>
              <a:t>proxy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편함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C051F-AEDC-4BA1-BE1A-CA3A1BF6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E029FE-7CB8-4C3E-A326-3FAC886C6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3337730"/>
            <a:ext cx="8878539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23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E5319-A84B-4965-B061-8EC1F51B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AC6C4-9F4B-49FC-8347-B69AC716B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C6A311-E86F-4DA3-9089-1A0EA1CA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BF1B47-0E15-4AE6-B644-D5526DD8B1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rgbClr val="C00000"/>
                </a:solidFill>
              </a:rPr>
              <a:t>WARING</a:t>
            </a:r>
          </a:p>
          <a:p>
            <a:pPr algn="just"/>
            <a:endParaRPr lang="en-US" altLang="ko-KR" sz="2800" dirty="0">
              <a:solidFill>
                <a:srgbClr val="C00000"/>
              </a:solidFill>
            </a:endParaRPr>
          </a:p>
          <a:p>
            <a:pPr algn="just"/>
            <a:r>
              <a:rPr lang="ko-KR" altLang="en-US" sz="2800" dirty="0">
                <a:solidFill>
                  <a:srgbClr val="C00000"/>
                </a:solidFill>
              </a:rPr>
              <a:t>웹 해킹 기술을 시도하는 것 만으로도 정보통신망법 위반으로 처벌을 받을 수 있습니다</a:t>
            </a:r>
            <a:r>
              <a:rPr lang="en-US" altLang="ko-KR" sz="2800" dirty="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altLang="ko-KR" sz="2800" dirty="0">
              <a:solidFill>
                <a:srgbClr val="C00000"/>
              </a:solidFill>
            </a:endParaRPr>
          </a:p>
          <a:p>
            <a:pPr algn="just"/>
            <a:r>
              <a:rPr lang="ko-KR" altLang="en-US" sz="2800" dirty="0">
                <a:solidFill>
                  <a:srgbClr val="C00000"/>
                </a:solidFill>
              </a:rPr>
              <a:t>허용된 범위 내 </a:t>
            </a:r>
            <a:r>
              <a:rPr lang="ko-KR" altLang="en-US" sz="2800" dirty="0" err="1">
                <a:solidFill>
                  <a:srgbClr val="C00000"/>
                </a:solidFill>
              </a:rPr>
              <a:t>버그헌팅</a:t>
            </a:r>
            <a:r>
              <a:rPr lang="en-US" altLang="ko-KR" sz="2800" dirty="0">
                <a:solidFill>
                  <a:srgbClr val="C00000"/>
                </a:solidFill>
              </a:rPr>
              <a:t>, Wargame, </a:t>
            </a:r>
            <a:r>
              <a:rPr lang="ko-KR" altLang="en-US" sz="2800" dirty="0">
                <a:solidFill>
                  <a:srgbClr val="C00000"/>
                </a:solidFill>
              </a:rPr>
              <a:t>환경 구축 등을 통해서 실습을 진행하시길 바랍니다</a:t>
            </a:r>
            <a:r>
              <a:rPr lang="en-US" altLang="ko-KR" sz="2800" dirty="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altLang="ko-KR" sz="2800" dirty="0">
              <a:solidFill>
                <a:srgbClr val="C00000"/>
              </a:solidFill>
            </a:endParaRPr>
          </a:p>
          <a:p>
            <a:pPr algn="just"/>
            <a:r>
              <a:rPr lang="ko-KR" altLang="en-US" sz="2800" dirty="0">
                <a:solidFill>
                  <a:srgbClr val="C00000"/>
                </a:solidFill>
              </a:rPr>
              <a:t>이를 위반하여 발생하는 법적 책임은 모두 본인에게 있습니다</a:t>
            </a:r>
            <a:r>
              <a:rPr lang="en-US" altLang="ko-KR" sz="2800" dirty="0">
                <a:solidFill>
                  <a:srgbClr val="C00000"/>
                </a:solidFill>
              </a:rPr>
              <a:t>!</a:t>
            </a:r>
            <a:endParaRPr lang="ko-KR" alt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405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38D0D-1E1A-47D2-8F7C-01943707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27760A-2346-463B-BBBD-90E3FB27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파라미터 변조</a:t>
            </a:r>
            <a:endParaRPr lang="en-US" altLang="ko-KR" dirty="0"/>
          </a:p>
          <a:p>
            <a:pPr lvl="1"/>
            <a:r>
              <a:rPr lang="ko-KR" altLang="en-US" dirty="0"/>
              <a:t>웹 서버에 전송되는 모든</a:t>
            </a:r>
            <a:r>
              <a:rPr lang="en-US" altLang="ko-KR" dirty="0"/>
              <a:t> HTTP </a:t>
            </a:r>
            <a:r>
              <a:rPr lang="ko-KR" altLang="en-US" dirty="0"/>
              <a:t>요청 값 </a:t>
            </a:r>
            <a:r>
              <a:rPr lang="en-US" altLang="ko-KR" dirty="0"/>
              <a:t>(URL parameter, Cookie, </a:t>
            </a:r>
            <a:r>
              <a:rPr lang="en-US" altLang="ko-KR" dirty="0" err="1"/>
              <a:t>Referer</a:t>
            </a:r>
            <a:r>
              <a:rPr lang="en-US" altLang="ko-KR" dirty="0"/>
              <a:t>, form data, User-Agent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조작하여 정상적으로는 접근 권한이 없는 정보를 조회</a:t>
            </a:r>
            <a:r>
              <a:rPr lang="en-US" altLang="ko-KR" dirty="0"/>
              <a:t>/</a:t>
            </a:r>
            <a:r>
              <a:rPr lang="ko-KR" altLang="en-US" dirty="0"/>
              <a:t>변경 하는 취약점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97E20A-C3B3-4DF0-B37D-9C2189AB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F490D7-F8C1-40D8-AE7C-6B2677B2F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002" y="2759312"/>
            <a:ext cx="4474806" cy="352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648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CB514-89A1-4611-ACDA-4CB741AA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B757CF-D400-45C5-9143-76E21FA74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17783-1EEE-4149-BC39-E110CFE8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1026" name="Picture 2" descr="버프 슈트(BurpSuite) 인증서 문제 해결!">
            <a:extLst>
              <a:ext uri="{FF2B5EF4-FFF2-40B4-BE49-F238E27FC236}">
                <a16:creationId xmlns:a16="http://schemas.microsoft.com/office/drawing/2014/main" id="{0CB7751F-D06C-4AE5-BF4E-547AB4680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54" y="2348815"/>
            <a:ext cx="5264492" cy="2643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1295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7E443-88FB-4DDC-959F-1A42D447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6297161-36CF-47A0-B282-C0840EBCE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810" y="2064330"/>
            <a:ext cx="7916380" cy="2534004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77F30-1E88-4DBF-821D-9988613C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8B777D14-EDBC-4761-9829-1216B4ECFBDF}"/>
              </a:ext>
            </a:extLst>
          </p:cNvPr>
          <p:cNvSpPr/>
          <p:nvPr/>
        </p:nvSpPr>
        <p:spPr>
          <a:xfrm>
            <a:off x="7234177" y="3646025"/>
            <a:ext cx="1203767" cy="625033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B6482-05D2-4726-976A-739810FA4B7B}"/>
              </a:ext>
            </a:extLst>
          </p:cNvPr>
          <p:cNvSpPr txBox="1"/>
          <p:nvPr/>
        </p:nvSpPr>
        <p:spPr>
          <a:xfrm>
            <a:off x="3940648" y="4925304"/>
            <a:ext cx="1548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Intercept is off</a:t>
            </a:r>
            <a:endParaRPr lang="ko-KR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51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89828-9793-4DD2-8D58-BE71DF2E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DC465-C98C-4DB7-9D60-6BD193CA3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https://hackerfactory.co.kr/wargame/war1/index.php</a:t>
            </a:r>
            <a:endParaRPr lang="en-US" altLang="ko-KR" dirty="0"/>
          </a:p>
          <a:p>
            <a:r>
              <a:rPr lang="ko-KR" altLang="en-US" b="0" i="0" dirty="0">
                <a:solidFill>
                  <a:srgbClr val="444444"/>
                </a:solidFill>
                <a:effectLst/>
                <a:latin typeface="Source Sans Pro" panose="020B0503030403020204" pitchFamily="34" charset="0"/>
              </a:rPr>
              <a:t>상품을 구매하고 싶지만 현재 나의 포인트는 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Source Sans Pro" panose="020B0503030403020204" pitchFamily="34" charset="0"/>
              </a:rPr>
              <a:t>"0"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Source Sans Pro" panose="020B0503030403020204" pitchFamily="34" charset="0"/>
              </a:rPr>
              <a:t>포인트이다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EA05D-8D3B-47CE-9907-1F7250B0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pic>
        <p:nvPicPr>
          <p:cNvPr id="7" name="내용 개체 틀 5">
            <a:extLst>
              <a:ext uri="{FF2B5EF4-FFF2-40B4-BE49-F238E27FC236}">
                <a16:creationId xmlns:a16="http://schemas.microsoft.com/office/drawing/2014/main" id="{BF74105B-DB6B-4BAE-8799-6D923F7C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07737"/>
            <a:ext cx="3858163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820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8702D-0C27-4234-B22F-C03D541E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9F4A4-33D8-490F-BD26-DAD439ED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04A31E9-D6CF-4CE7-A8B8-03153F1BD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</a:t>
            </a:r>
            <a:r>
              <a:rPr lang="ko-KR" altLang="en-US" dirty="0"/>
              <a:t> </a:t>
            </a:r>
            <a:r>
              <a:rPr lang="en-US" altLang="ko-KR" dirty="0"/>
              <a:t>request </a:t>
            </a:r>
            <a:r>
              <a:rPr lang="ko-KR" altLang="en-US" dirty="0"/>
              <a:t>하나하나 </a:t>
            </a:r>
            <a:r>
              <a:rPr lang="en-US" altLang="ko-KR" dirty="0"/>
              <a:t>intercept </a:t>
            </a:r>
            <a:r>
              <a:rPr lang="ko-KR" altLang="en-US" dirty="0"/>
              <a:t>하여 수정이 가능함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F327E5-F081-4632-9FD0-ABC0F363B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711" y="2638692"/>
            <a:ext cx="4791289" cy="236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393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E36DE-D930-4914-9A9D-AA00027A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91AAF7F-3EF3-4A13-9FA5-8519E6D62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57" y="1923347"/>
            <a:ext cx="12146243" cy="3807150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2CCB1-9633-4D6B-9206-2AD7DC39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7" name="액자 6">
            <a:extLst>
              <a:ext uri="{FF2B5EF4-FFF2-40B4-BE49-F238E27FC236}">
                <a16:creationId xmlns:a16="http://schemas.microsoft.com/office/drawing/2014/main" id="{573BFEED-26AB-465B-A448-DCA51D10B91C}"/>
              </a:ext>
            </a:extLst>
          </p:cNvPr>
          <p:cNvSpPr/>
          <p:nvPr/>
        </p:nvSpPr>
        <p:spPr>
          <a:xfrm>
            <a:off x="1516284" y="5463251"/>
            <a:ext cx="960698" cy="254643"/>
          </a:xfrm>
          <a:prstGeom prst="fram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73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72E42-7269-4495-85B9-84CA5DCF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F8F82A4-132B-4B31-83C1-C9B15DE46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88656"/>
            <a:ext cx="7632489" cy="912751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3CF9F-5405-4E1F-814F-D02B4853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2C6095A-B09A-410A-A8FA-6AA1A2EFA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661726"/>
            <a:ext cx="5325218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970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75936-EB90-4563-969A-6A658589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B41D5B-5D64-427E-BEB3-3C874F417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33D1AA-51CF-41A0-B348-F41D1DC5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C27DAD-0ABB-42B9-8BB7-7D980C37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67281"/>
            <a:ext cx="9735909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467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7FE26D-9669-4EDD-84BD-FE3476411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Parameter</a:t>
            </a:r>
            <a:r>
              <a:rPr lang="ko-KR" altLang="en-US" dirty="0"/>
              <a:t> </a:t>
            </a:r>
            <a:r>
              <a:rPr lang="en-US" altLang="ko-KR" dirty="0"/>
              <a:t>Tampering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581CE-2528-403F-A051-248E9B173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5D2B1-715D-40B6-BBFF-7A193D2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D09C0-0E59-485D-BA48-76AA02122EBC}"/>
              </a:ext>
            </a:extLst>
          </p:cNvPr>
          <p:cNvSpPr txBox="1"/>
          <p:nvPr/>
        </p:nvSpPr>
        <p:spPr>
          <a:xfrm>
            <a:off x="1726557" y="2411298"/>
            <a:ext cx="873888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POST / HTTP/1.1</a:t>
            </a:r>
          </a:p>
          <a:p>
            <a:r>
              <a:rPr lang="en-US" altLang="ko-KR" dirty="0"/>
              <a:t>Host: </a:t>
            </a:r>
            <a:r>
              <a:rPr lang="en-US" altLang="ko-KR" dirty="0">
                <a:hlinkClick r:id="rId2"/>
              </a:rPr>
              <a:t>www.naver.com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C00000"/>
                </a:solidFill>
              </a:rPr>
              <a:t>=&gt; Host </a:t>
            </a:r>
            <a:r>
              <a:rPr lang="ko-KR" altLang="en-US" dirty="0">
                <a:solidFill>
                  <a:srgbClr val="C00000"/>
                </a:solidFill>
              </a:rPr>
              <a:t>조작</a:t>
            </a:r>
            <a:endParaRPr lang="en-US" altLang="ko-KR" dirty="0"/>
          </a:p>
          <a:p>
            <a:r>
              <a:rPr lang="en-US" altLang="ko-KR" dirty="0"/>
              <a:t>Accept: text/html, */*;</a:t>
            </a:r>
          </a:p>
          <a:p>
            <a:r>
              <a:rPr lang="en-US" altLang="ko-KR" dirty="0"/>
              <a:t>User-Agent: Mozilla/5.0 (Windows NT 6.1) </a:t>
            </a:r>
            <a:r>
              <a:rPr lang="en-US" altLang="ko-KR" dirty="0">
                <a:solidFill>
                  <a:srgbClr val="C00000"/>
                </a:solidFill>
              </a:rPr>
              <a:t>=&gt; Browser/OS </a:t>
            </a:r>
            <a:r>
              <a:rPr lang="ko-KR" altLang="en-US" dirty="0">
                <a:solidFill>
                  <a:srgbClr val="C00000"/>
                </a:solidFill>
              </a:rPr>
              <a:t>정보 조작</a:t>
            </a:r>
            <a:endParaRPr lang="en-US" altLang="ko-KR" dirty="0">
              <a:solidFill>
                <a:srgbClr val="C00000"/>
              </a:solidFill>
            </a:endParaRPr>
          </a:p>
          <a:p>
            <a:r>
              <a:rPr lang="en-US" altLang="ko-KR" dirty="0" err="1"/>
              <a:t>Referer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http://www.naver.com/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C00000"/>
                </a:solidFill>
              </a:rPr>
              <a:t>=&gt; </a:t>
            </a:r>
            <a:r>
              <a:rPr lang="ko-KR" altLang="en-US" dirty="0">
                <a:solidFill>
                  <a:srgbClr val="C00000"/>
                </a:solidFill>
              </a:rPr>
              <a:t>이전 페이지 조작</a:t>
            </a:r>
            <a:endParaRPr lang="en-US" altLang="ko-KR" dirty="0">
              <a:solidFill>
                <a:srgbClr val="C00000"/>
              </a:solidFill>
            </a:endParaRPr>
          </a:p>
          <a:p>
            <a:r>
              <a:rPr lang="en-US" altLang="ko-KR" dirty="0"/>
              <a:t>Cookie: NNB=FDEF2D382FewsD; </a:t>
            </a:r>
            <a:r>
              <a:rPr lang="en-US" altLang="ko-KR" dirty="0">
                <a:solidFill>
                  <a:srgbClr val="C00000"/>
                </a:solidFill>
              </a:rPr>
              <a:t>=&gt; </a:t>
            </a:r>
            <a:r>
              <a:rPr lang="ko-KR" altLang="en-US" dirty="0">
                <a:solidFill>
                  <a:srgbClr val="C00000"/>
                </a:solidFill>
              </a:rPr>
              <a:t>쿠키 조작</a:t>
            </a:r>
            <a:endParaRPr lang="en-US" altLang="ko-KR" dirty="0">
              <a:solidFill>
                <a:srgbClr val="C00000"/>
              </a:solidFill>
            </a:endParaRPr>
          </a:p>
          <a:p>
            <a:endParaRPr lang="en-US" altLang="ko-KR" dirty="0"/>
          </a:p>
          <a:p>
            <a:r>
              <a:rPr lang="en-US" altLang="ko-KR" dirty="0"/>
              <a:t>Test1=1&amp;Test2=2 </a:t>
            </a:r>
            <a:r>
              <a:rPr lang="en-US" altLang="ko-KR" dirty="0">
                <a:solidFill>
                  <a:srgbClr val="C00000"/>
                </a:solidFill>
              </a:rPr>
              <a:t>=&gt; </a:t>
            </a:r>
            <a:r>
              <a:rPr lang="ko-KR" altLang="en-US" dirty="0">
                <a:solidFill>
                  <a:srgbClr val="C00000"/>
                </a:solidFill>
              </a:rPr>
              <a:t>데이터 조작</a:t>
            </a:r>
          </a:p>
        </p:txBody>
      </p:sp>
    </p:spTree>
    <p:extLst>
      <p:ext uri="{BB962C8B-B14F-4D97-AF65-F5344CB8AC3E}">
        <p14:creationId xmlns:p14="http://schemas.microsoft.com/office/powerpoint/2010/main" val="15095511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25C9E-3FD5-4EC5-A225-3F72D970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 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36DCA-EF00-4A40-8921-9AC106A26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무차별 대입 공격</a:t>
            </a:r>
            <a:endParaRPr lang="en-US" altLang="ko-KR" dirty="0"/>
          </a:p>
          <a:p>
            <a:r>
              <a:rPr lang="ko-KR" altLang="en-US" dirty="0"/>
              <a:t>암호 알고리즘</a:t>
            </a:r>
            <a:r>
              <a:rPr lang="en-US" altLang="ko-KR" dirty="0"/>
              <a:t>, </a:t>
            </a:r>
            <a:r>
              <a:rPr lang="ko-KR" altLang="en-US" dirty="0"/>
              <a:t>확률적 </a:t>
            </a:r>
            <a:r>
              <a:rPr lang="en-US" altLang="ko-KR" dirty="0"/>
              <a:t>exploit </a:t>
            </a:r>
            <a:r>
              <a:rPr lang="ko-KR" altLang="en-US" dirty="0"/>
              <a:t>등등 해킹 분야에서 중요한 특성</a:t>
            </a:r>
            <a:endParaRPr lang="en-US" altLang="ko-KR" dirty="0"/>
          </a:p>
          <a:p>
            <a:r>
              <a:rPr lang="ko-KR" altLang="en-US" dirty="0"/>
              <a:t>앞서 배웠던 </a:t>
            </a:r>
            <a:r>
              <a:rPr lang="en-US" altLang="ko-KR" dirty="0"/>
              <a:t>Parameter Tampering</a:t>
            </a:r>
            <a:r>
              <a:rPr lang="ko-KR" altLang="en-US" dirty="0"/>
              <a:t>을 자동화하여 무차별 대입 공격하면</a:t>
            </a:r>
            <a:r>
              <a:rPr lang="en-US" altLang="ko-KR" dirty="0"/>
              <a:t>, </a:t>
            </a:r>
            <a:r>
              <a:rPr lang="ko-KR" altLang="en-US" dirty="0"/>
              <a:t>공격의 효율과 범위가 늘어남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0ECE33-F263-419F-875E-E60ADEBC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61479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8A700-57A1-4E30-A413-F44F0FD8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 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8D999B-0094-4A99-98C7-B7840DC58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파이썬 </a:t>
            </a:r>
            <a:r>
              <a:rPr lang="en-US" altLang="ko-KR" dirty="0"/>
              <a:t>requests </a:t>
            </a:r>
            <a:r>
              <a:rPr lang="ko-KR" altLang="en-US" dirty="0"/>
              <a:t>로 실습하겠습니다</a:t>
            </a:r>
            <a:r>
              <a:rPr lang="en-US" altLang="ko-KR" dirty="0"/>
              <a:t>. (</a:t>
            </a:r>
            <a:r>
              <a:rPr lang="ko-KR" altLang="en-US" dirty="0"/>
              <a:t>버프 슈트에 강력한 기능이 있지만</a:t>
            </a:r>
            <a:r>
              <a:rPr lang="en-US" altLang="ko-KR" dirty="0"/>
              <a:t>, </a:t>
            </a:r>
            <a:r>
              <a:rPr lang="ko-KR" altLang="en-US" dirty="0"/>
              <a:t>무료는 제약이 있음</a:t>
            </a:r>
            <a:r>
              <a:rPr lang="en-US" altLang="ko-KR" dirty="0"/>
              <a:t>.)</a:t>
            </a:r>
          </a:p>
          <a:p>
            <a:r>
              <a:rPr lang="ko-KR" altLang="en-US" dirty="0" err="1"/>
              <a:t>웹해킹에서</a:t>
            </a:r>
            <a:r>
              <a:rPr lang="ko-KR" altLang="en-US" dirty="0"/>
              <a:t> 파이썬 쓸 일이 많이 있으니 익힙시다</a:t>
            </a:r>
            <a:r>
              <a:rPr lang="en-US" altLang="ko-KR" dirty="0"/>
              <a:t>.</a:t>
            </a:r>
          </a:p>
          <a:p>
            <a:r>
              <a:rPr lang="sv-SE" altLang="ko-KR" dirty="0"/>
              <a:t>python3 –m pip install –upgrade pip</a:t>
            </a:r>
          </a:p>
          <a:p>
            <a:r>
              <a:rPr lang="en-US" altLang="ko-KR" dirty="0"/>
              <a:t>pip3 install requests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1E268-E255-4C72-8442-D72DEABC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71336E-8EC0-46DE-A67D-F662AF5D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933757"/>
            <a:ext cx="3277057" cy="9716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7AA3B2-D9B9-4555-BD43-A7D7CE42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405" y="3094972"/>
            <a:ext cx="570627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148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E4E45-1BC6-491E-950E-0A4FF9D5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AC5F3-27D4-47BF-B4C9-791D7421F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Get </a:t>
            </a:r>
            <a:r>
              <a:rPr lang="ko-KR" altLang="en-US" dirty="0"/>
              <a:t>요청 보내기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8FB74-CB17-41D4-A30C-A07C5943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89A443-664F-4050-9643-CF6F254630F4}"/>
              </a:ext>
            </a:extLst>
          </p:cNvPr>
          <p:cNvSpPr txBox="1"/>
          <p:nvPr/>
        </p:nvSpPr>
        <p:spPr>
          <a:xfrm>
            <a:off x="1638300" y="2239073"/>
            <a:ext cx="8915400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import requests</a:t>
            </a:r>
          </a:p>
          <a:p>
            <a:endParaRPr lang="en-US" altLang="ko-KR" dirty="0"/>
          </a:p>
          <a:p>
            <a:r>
              <a:rPr lang="en-US" altLang="ko-KR" dirty="0" err="1"/>
              <a:t>url</a:t>
            </a:r>
            <a:r>
              <a:rPr lang="en-US" altLang="ko-KR" dirty="0"/>
              <a:t> = 'https://www.google.com/search'</a:t>
            </a:r>
          </a:p>
          <a:p>
            <a:endParaRPr lang="en-US" altLang="ko-KR" dirty="0"/>
          </a:p>
          <a:p>
            <a:r>
              <a:rPr lang="en-US" altLang="ko-KR" dirty="0"/>
              <a:t>response = </a:t>
            </a:r>
            <a:r>
              <a:rPr lang="en-US" altLang="ko-KR" dirty="0" err="1"/>
              <a:t>requests.get</a:t>
            </a:r>
            <a:r>
              <a:rPr lang="en-US" altLang="ko-KR" dirty="0"/>
              <a:t>(</a:t>
            </a:r>
            <a:r>
              <a:rPr lang="en-US" altLang="ko-KR" dirty="0" err="1"/>
              <a:t>url</a:t>
            </a:r>
            <a:r>
              <a:rPr lang="en-US" altLang="ko-KR" dirty="0"/>
              <a:t>, params={'</a:t>
            </a:r>
            <a:r>
              <a:rPr lang="en-US" altLang="ko-KR" dirty="0" err="1"/>
              <a:t>q':'Korea</a:t>
            </a:r>
            <a:r>
              <a:rPr lang="en-US" altLang="ko-KR" dirty="0"/>
              <a:t> Univ'})</a:t>
            </a:r>
          </a:p>
          <a:p>
            <a:endParaRPr lang="en-US" altLang="ko-KR" dirty="0"/>
          </a:p>
          <a:p>
            <a:r>
              <a:rPr lang="en-US" altLang="ko-KR" dirty="0" err="1"/>
              <a:t>status_code</a:t>
            </a:r>
            <a:r>
              <a:rPr lang="en-US" altLang="ko-KR" dirty="0"/>
              <a:t> = </a:t>
            </a:r>
            <a:r>
              <a:rPr lang="en-US" altLang="ko-KR" dirty="0" err="1"/>
              <a:t>response.status_code</a:t>
            </a:r>
            <a:endParaRPr lang="en-US" altLang="ko-KR" dirty="0"/>
          </a:p>
          <a:p>
            <a:r>
              <a:rPr lang="en-US" altLang="ko-KR" dirty="0"/>
              <a:t>header = </a:t>
            </a:r>
            <a:r>
              <a:rPr lang="en-US" altLang="ko-KR" dirty="0" err="1"/>
              <a:t>response.headers</a:t>
            </a:r>
            <a:endParaRPr lang="en-US" altLang="ko-KR" dirty="0"/>
          </a:p>
          <a:p>
            <a:r>
              <a:rPr lang="en-US" altLang="ko-KR" dirty="0"/>
              <a:t>html = </a:t>
            </a:r>
            <a:r>
              <a:rPr lang="en-US" altLang="ko-KR" dirty="0" err="1"/>
              <a:t>response.text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print(</a:t>
            </a:r>
            <a:r>
              <a:rPr lang="en-US" altLang="ko-KR" dirty="0" err="1"/>
              <a:t>status_code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#print(header)</a:t>
            </a:r>
          </a:p>
          <a:p>
            <a:r>
              <a:rPr lang="en-US" altLang="ko-KR" dirty="0"/>
              <a:t>#print(html)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46968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63F2C-44A7-486B-8BE2-F70B14CB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2FEB0-05EB-4E5D-A35B-D6A6ADC0D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Post </a:t>
            </a:r>
            <a:r>
              <a:rPr lang="ko-KR" altLang="en-US" dirty="0"/>
              <a:t>요청 보내기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BE73D-B1BA-4806-9F13-E1A5E06A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5F2E8-BF68-4E37-954D-C95F020753CC}"/>
              </a:ext>
            </a:extLst>
          </p:cNvPr>
          <p:cNvSpPr txBox="1"/>
          <p:nvPr/>
        </p:nvSpPr>
        <p:spPr>
          <a:xfrm>
            <a:off x="1638300" y="2239073"/>
            <a:ext cx="8915400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import requests</a:t>
            </a:r>
          </a:p>
          <a:p>
            <a:endParaRPr lang="en-US" altLang="ko-KR" dirty="0"/>
          </a:p>
          <a:p>
            <a:r>
              <a:rPr lang="en-US" altLang="ko-KR" dirty="0" err="1"/>
              <a:t>url</a:t>
            </a:r>
            <a:r>
              <a:rPr lang="en-US" altLang="ko-KR" dirty="0"/>
              <a:t> = 'https://www.google.com/search'</a:t>
            </a:r>
          </a:p>
          <a:p>
            <a:endParaRPr lang="en-US" altLang="ko-KR" dirty="0"/>
          </a:p>
          <a:p>
            <a:r>
              <a:rPr lang="en-US" altLang="ko-KR" dirty="0"/>
              <a:t>response = </a:t>
            </a:r>
            <a:r>
              <a:rPr lang="en-US" altLang="ko-KR" dirty="0" err="1"/>
              <a:t>requests.</a:t>
            </a:r>
            <a:r>
              <a:rPr lang="en-US" altLang="ko-KR" dirty="0" err="1">
                <a:solidFill>
                  <a:srgbClr val="FF0000"/>
                </a:solidFill>
              </a:rPr>
              <a:t>post</a:t>
            </a:r>
            <a:r>
              <a:rPr lang="en-US" altLang="ko-KR" dirty="0"/>
              <a:t>(</a:t>
            </a:r>
            <a:r>
              <a:rPr lang="en-US" altLang="ko-KR" dirty="0" err="1"/>
              <a:t>url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FF0000"/>
                </a:solidFill>
              </a:rPr>
              <a:t>data</a:t>
            </a:r>
            <a:r>
              <a:rPr lang="en-US" altLang="ko-KR" dirty="0"/>
              <a:t>={'</a:t>
            </a:r>
            <a:r>
              <a:rPr lang="en-US" altLang="ko-KR" dirty="0" err="1"/>
              <a:t>q':'Korea</a:t>
            </a:r>
            <a:r>
              <a:rPr lang="en-US" altLang="ko-KR" dirty="0"/>
              <a:t> Univ'})</a:t>
            </a:r>
          </a:p>
          <a:p>
            <a:endParaRPr lang="en-US" altLang="ko-KR" dirty="0"/>
          </a:p>
          <a:p>
            <a:r>
              <a:rPr lang="en-US" altLang="ko-KR" dirty="0" err="1"/>
              <a:t>status_code</a:t>
            </a:r>
            <a:r>
              <a:rPr lang="en-US" altLang="ko-KR" dirty="0"/>
              <a:t> = </a:t>
            </a:r>
            <a:r>
              <a:rPr lang="en-US" altLang="ko-KR" dirty="0" err="1"/>
              <a:t>response.status_code</a:t>
            </a:r>
            <a:endParaRPr lang="en-US" altLang="ko-KR" dirty="0"/>
          </a:p>
          <a:p>
            <a:r>
              <a:rPr lang="en-US" altLang="ko-KR" dirty="0"/>
              <a:t>header = </a:t>
            </a:r>
            <a:r>
              <a:rPr lang="en-US" altLang="ko-KR" dirty="0" err="1"/>
              <a:t>response.headers</a:t>
            </a:r>
            <a:endParaRPr lang="en-US" altLang="ko-KR" dirty="0"/>
          </a:p>
          <a:p>
            <a:r>
              <a:rPr lang="en-US" altLang="ko-KR" dirty="0"/>
              <a:t>html = </a:t>
            </a:r>
            <a:r>
              <a:rPr lang="en-US" altLang="ko-KR" dirty="0" err="1"/>
              <a:t>response.text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print(</a:t>
            </a:r>
            <a:r>
              <a:rPr lang="en-US" altLang="ko-KR" dirty="0" err="1"/>
              <a:t>status_code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#print(header)</a:t>
            </a:r>
          </a:p>
          <a:p>
            <a:r>
              <a:rPr lang="en-US" altLang="ko-KR" dirty="0"/>
              <a:t>#print(html)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4827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A772B-56A1-4925-8EFC-90698489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requests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FD6CC-1BCF-4222-B4C1-1E47D20DD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Json</a:t>
            </a:r>
            <a:r>
              <a:rPr lang="ko-KR" altLang="en-US" dirty="0"/>
              <a:t> 값 </a:t>
            </a:r>
            <a:r>
              <a:rPr lang="en-US" altLang="ko-KR" dirty="0"/>
              <a:t>post</a:t>
            </a:r>
            <a:r>
              <a:rPr lang="ko-KR" altLang="en-US" dirty="0"/>
              <a:t>로 보내기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쿠키 추가</a:t>
            </a:r>
            <a:r>
              <a:rPr lang="en-US" altLang="ko-KR" dirty="0"/>
              <a:t>	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D42A4-BAEF-48EB-9A40-841BF18C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9EC2D6-2F12-4029-842F-BA9413CB4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05" y="2225631"/>
            <a:ext cx="5257130" cy="10086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4F6FFA-229A-438D-AB13-07686D57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05" y="4036437"/>
            <a:ext cx="7298137" cy="11028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19921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99B40-B216-493C-BD55-4AABF52D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 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1FA66-DA49-4342-A7D9-2F61B02A1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Brute-forcing</a:t>
            </a:r>
            <a:r>
              <a:rPr lang="ko-KR" altLang="en-US" dirty="0"/>
              <a:t> </a:t>
            </a:r>
            <a:r>
              <a:rPr lang="en-US" altLang="ko-KR" dirty="0"/>
              <a:t>usernames</a:t>
            </a:r>
          </a:p>
          <a:p>
            <a:pPr lvl="1"/>
            <a:r>
              <a:rPr lang="en-US" altLang="ko-KR" dirty="0">
                <a:hlinkClick r:id="rId2"/>
              </a:rPr>
              <a:t>firstname.lastname@somecompany.com</a:t>
            </a:r>
            <a:r>
              <a:rPr lang="ko-KR" altLang="en-US" dirty="0"/>
              <a:t> 과 비즈니스 상 비슷한 형식의 패턴을 추측</a:t>
            </a:r>
            <a:endParaRPr lang="en-US" altLang="ko-KR" dirty="0"/>
          </a:p>
          <a:p>
            <a:pPr lvl="1"/>
            <a:r>
              <a:rPr lang="ko-KR" altLang="en-US" dirty="0"/>
              <a:t>예측 가능한 사용자 이름 </a:t>
            </a:r>
            <a:r>
              <a:rPr lang="en-US" altLang="ko-KR" dirty="0"/>
              <a:t>(admin,</a:t>
            </a:r>
            <a:r>
              <a:rPr lang="ko-KR" altLang="en-US" dirty="0"/>
              <a:t> </a:t>
            </a:r>
            <a:r>
              <a:rPr lang="en-US" altLang="ko-KR" dirty="0"/>
              <a:t>administrator, webmaster </a:t>
            </a:r>
            <a:r>
              <a:rPr lang="en-US" altLang="ko-KR" dirty="0" err="1"/>
              <a:t>etc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프로필 이름과 </a:t>
            </a:r>
            <a:r>
              <a:rPr lang="en-US" altLang="ko-KR" dirty="0"/>
              <a:t>login username</a:t>
            </a:r>
            <a:r>
              <a:rPr lang="ko-KR" altLang="en-US" dirty="0"/>
              <a:t>이 동일한 경우</a:t>
            </a:r>
            <a:endParaRPr lang="en-US" altLang="ko-KR" dirty="0"/>
          </a:p>
          <a:p>
            <a:pPr lvl="1"/>
            <a:r>
              <a:rPr lang="en-US" altLang="ko-KR" dirty="0"/>
              <a:t>Username</a:t>
            </a:r>
            <a:r>
              <a:rPr lang="ko-KR" altLang="en-US" dirty="0"/>
              <a:t>에 특정 </a:t>
            </a:r>
            <a:r>
              <a:rPr lang="en-US" altLang="ko-KR" dirty="0"/>
              <a:t>e-mail </a:t>
            </a:r>
            <a:r>
              <a:rPr lang="ko-KR" altLang="en-US" dirty="0"/>
              <a:t>주소가 포함되어 있는지 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Brute-forcing passwords</a:t>
            </a:r>
          </a:p>
          <a:p>
            <a:pPr lvl="1"/>
            <a:r>
              <a:rPr lang="ko-KR" altLang="en-US" dirty="0"/>
              <a:t>비밀번호 정책에 따라 난이도가 달라짐</a:t>
            </a:r>
            <a:endParaRPr lang="en-US" altLang="ko-KR" dirty="0"/>
          </a:p>
          <a:p>
            <a:pPr lvl="2"/>
            <a:r>
              <a:rPr lang="en-US" altLang="ko-KR" dirty="0"/>
              <a:t>A minimum number of characters, A mixture of lower and uppercase letters, At least one special character</a:t>
            </a:r>
          </a:p>
          <a:p>
            <a:pPr lvl="1"/>
            <a:r>
              <a:rPr lang="ko-KR" altLang="en-US" dirty="0"/>
              <a:t>정기적으로 패스워드를 바꿀 때 사람들은 미세하게 변경함</a:t>
            </a:r>
            <a:r>
              <a:rPr lang="en-US" altLang="ko-KR" dirty="0"/>
              <a:t>. (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"/>
              </a:rPr>
              <a:t>Mypassword1 -&gt; Mypassword1!)</a:t>
            </a:r>
          </a:p>
          <a:p>
            <a:pPr lvl="2"/>
            <a:r>
              <a:rPr lang="ko-KR" altLang="en-US" dirty="0">
                <a:solidFill>
                  <a:srgbClr val="000000"/>
                </a:solidFill>
                <a:latin typeface="Noto Sans"/>
              </a:rPr>
              <a:t>유출된 패스워드가 있을 때</a:t>
            </a:r>
            <a:r>
              <a:rPr lang="en-US" altLang="ko-KR" dirty="0">
                <a:solidFill>
                  <a:srgbClr val="000000"/>
                </a:solidFill>
                <a:latin typeface="Noto Sans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Noto Sans"/>
              </a:rPr>
              <a:t>변경된 패스워드를 대상으로 </a:t>
            </a:r>
            <a:r>
              <a:rPr lang="en-US" altLang="ko-KR" dirty="0">
                <a:solidFill>
                  <a:srgbClr val="000000"/>
                </a:solidFill>
                <a:latin typeface="Noto Sans"/>
              </a:rPr>
              <a:t>Brute force </a:t>
            </a:r>
            <a:r>
              <a:rPr lang="ko-KR" altLang="en-US" dirty="0">
                <a:solidFill>
                  <a:srgbClr val="000000"/>
                </a:solidFill>
                <a:latin typeface="Noto Sans"/>
              </a:rPr>
              <a:t>공격 가능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"/>
              </a:rPr>
              <a:t> 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EDF73-B145-4877-8C99-EB91E30B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5170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3DC1F8-DC50-4746-A82B-0630F7B8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 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1C3A8-306F-43DE-AA6D-9D5C930EE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Username enumeration (</a:t>
            </a:r>
            <a:r>
              <a:rPr lang="ko-KR" altLang="en-US" dirty="0"/>
              <a:t>사용자이름 열거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공격자가 웹 사이트의 동작 변화를 관찰하여 지정 </a:t>
            </a:r>
            <a:r>
              <a:rPr lang="en-US" altLang="ko-KR" dirty="0"/>
              <a:t>username</a:t>
            </a:r>
            <a:r>
              <a:rPr lang="ko-KR" altLang="en-US" dirty="0"/>
              <a:t>이 유효한지 여부를 식별할 수 있는 경우</a:t>
            </a:r>
            <a:endParaRPr lang="en-US" altLang="ko-KR" dirty="0"/>
          </a:p>
          <a:p>
            <a:pPr lvl="1"/>
            <a:r>
              <a:rPr lang="ko-KR" altLang="en-US" dirty="0"/>
              <a:t>예를 들어</a:t>
            </a:r>
            <a:r>
              <a:rPr lang="en-US" altLang="ko-KR" dirty="0"/>
              <a:t>,</a:t>
            </a:r>
          </a:p>
          <a:p>
            <a:pPr lvl="2"/>
            <a:r>
              <a:rPr lang="ko-KR" altLang="en-US" b="1" dirty="0"/>
              <a:t>로그인 페이지</a:t>
            </a:r>
            <a:r>
              <a:rPr lang="ko-KR" altLang="en-US" dirty="0"/>
              <a:t>에서 유효한 사용자 이름을 입력했지만</a:t>
            </a:r>
            <a:r>
              <a:rPr lang="en-US" altLang="ko-KR" dirty="0"/>
              <a:t> </a:t>
            </a:r>
            <a:r>
              <a:rPr lang="ko-KR" altLang="en-US" dirty="0"/>
              <a:t>비밀번호가 틀린 경우</a:t>
            </a:r>
            <a:endParaRPr lang="en-US" altLang="ko-KR" dirty="0"/>
          </a:p>
          <a:p>
            <a:pPr lvl="2"/>
            <a:r>
              <a:rPr lang="ko-KR" altLang="en-US" b="1" dirty="0"/>
              <a:t>회원 가입 페이지 </a:t>
            </a:r>
            <a:r>
              <a:rPr lang="ko-KR" altLang="en-US" dirty="0"/>
              <a:t>사용자 이름 중복검사에서</a:t>
            </a:r>
            <a:r>
              <a:rPr lang="en-US" altLang="ko-KR" dirty="0"/>
              <a:t>, </a:t>
            </a:r>
            <a:r>
              <a:rPr lang="ko-KR" altLang="en-US" dirty="0"/>
              <a:t>그 사용자 이름이 이미 존재하는 경우</a:t>
            </a:r>
            <a:endParaRPr lang="en-US" altLang="ko-KR" dirty="0"/>
          </a:p>
          <a:p>
            <a:pPr lvl="1"/>
            <a:r>
              <a:rPr lang="ko-KR" altLang="en-US" dirty="0"/>
              <a:t>해커는 유효한 사용자 이름 </a:t>
            </a:r>
            <a:r>
              <a:rPr lang="en-US" altLang="ko-KR" dirty="0"/>
              <a:t>list</a:t>
            </a:r>
            <a:r>
              <a:rPr lang="ko-KR" altLang="en-US" dirty="0"/>
              <a:t>를 빠르게 생성할 수 있으므로</a:t>
            </a:r>
            <a:r>
              <a:rPr lang="en-US" altLang="ko-KR" dirty="0"/>
              <a:t>, </a:t>
            </a:r>
            <a:r>
              <a:rPr lang="ko-KR" altLang="en-US" dirty="0"/>
              <a:t>시간과 노력이 크게 </a:t>
            </a:r>
            <a:r>
              <a:rPr lang="ko-KR" altLang="en-US" dirty="0" err="1"/>
              <a:t>줄어듬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21E25-D99A-4BA3-970C-DE884806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65765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B12C8-BC6F-41B1-9D69-A5B25980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 force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6E048-6043-4454-B0A1-66DF5C6D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Noto Sans"/>
              </a:rPr>
              <a:t>로그인 페이지를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 Sans"/>
              </a:rPr>
              <a:t>브루트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"/>
              </a:rPr>
              <a:t> 포스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"/>
              </a:rPr>
              <a:t>(brute-force)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 Sans"/>
              </a:rPr>
              <a:t>하려고 할 때 다음 사항에 특히 주의해야 함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"/>
              </a:rPr>
              <a:t>.</a:t>
            </a:r>
          </a:p>
          <a:p>
            <a:r>
              <a:rPr lang="en-US" altLang="ko-KR" b="1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Status codes</a:t>
            </a:r>
          </a:p>
          <a:p>
            <a:pPr lvl="1"/>
            <a:r>
              <a:rPr lang="ko-KR" altLang="en-US" dirty="0" err="1">
                <a:solidFill>
                  <a:srgbClr val="333332"/>
                </a:solidFill>
                <a:latin typeface="Arial" panose="020B0604020202020204" pitchFamily="34" charset="0"/>
              </a:rPr>
              <a:t>브루트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 포스 공격은 대부분 추측이 틀리기 때문에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, HTTP 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상태 코드는 대부분 동일하다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다른 상태 코드를 반환하는 경우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올바르다는 강력한 표시</a:t>
            </a:r>
            <a:endParaRPr lang="en-US" altLang="ko-KR" dirty="0">
              <a:solidFill>
                <a:srgbClr val="000000"/>
              </a:solidFill>
              <a:latin typeface="Noto Sans"/>
            </a:endParaRPr>
          </a:p>
          <a:p>
            <a:r>
              <a:rPr lang="en-US" altLang="ko-KR" b="1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Error messages</a:t>
            </a:r>
          </a:p>
          <a:p>
            <a:pPr lvl="1"/>
            <a:r>
              <a:rPr lang="ko-KR" altLang="en-US" i="0" dirty="0">
                <a:solidFill>
                  <a:srgbClr val="000000"/>
                </a:solidFill>
                <a:effectLst/>
                <a:latin typeface="Noto Sans"/>
              </a:rPr>
              <a:t>사용자 이름과 암호가 모두 정확한지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Noto Sans"/>
              </a:rPr>
              <a:t>,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Noto Sans"/>
              </a:rPr>
              <a:t>암호만 잘못된 건지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Noto Sans"/>
              </a:rPr>
              <a:t>,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Noto Sans"/>
              </a:rPr>
              <a:t>경우에 따라 다르기 때문에 좋은 정보가 될 수 있음</a:t>
            </a:r>
            <a:r>
              <a:rPr lang="en-US" altLang="ko-KR" i="0" dirty="0">
                <a:solidFill>
                  <a:srgbClr val="000000"/>
                </a:solidFill>
                <a:effectLst/>
                <a:latin typeface="Noto Sans"/>
              </a:rPr>
              <a:t>.</a:t>
            </a:r>
          </a:p>
          <a:p>
            <a:r>
              <a:rPr lang="en-US" altLang="ko-KR" b="1" i="0" dirty="0">
                <a:solidFill>
                  <a:srgbClr val="333332"/>
                </a:solidFill>
                <a:effectLst/>
                <a:latin typeface="Arial" panose="020B0604020202020204" pitchFamily="34" charset="0"/>
              </a:rPr>
              <a:t>Response times</a:t>
            </a:r>
          </a:p>
          <a:p>
            <a:pPr lvl="1"/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대부분의 요청이 유사한 응답 시간으로 처리 되지만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응답 시간이 예외적으로 길다면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웹 서버가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 </a:t>
            </a:r>
            <a:r>
              <a:rPr lang="ko-KR" altLang="en-US" dirty="0">
                <a:solidFill>
                  <a:srgbClr val="333332"/>
                </a:solidFill>
                <a:latin typeface="Arial" panose="020B0604020202020204" pitchFamily="34" charset="0"/>
              </a:rPr>
              <a:t>다른 작업을 하고 있을 수 있음</a:t>
            </a:r>
            <a:r>
              <a:rPr lang="en-US" altLang="ko-KR" dirty="0">
                <a:solidFill>
                  <a:srgbClr val="333332"/>
                </a:solidFill>
                <a:latin typeface="Arial" panose="020B0604020202020204" pitchFamily="34" charset="0"/>
              </a:rPr>
              <a:t>.</a:t>
            </a:r>
          </a:p>
          <a:p>
            <a:pPr lvl="1"/>
            <a:r>
              <a:rPr lang="ko-KR" altLang="en-US" dirty="0"/>
              <a:t>예를 들어 </a:t>
            </a:r>
            <a:r>
              <a:rPr lang="en-US" altLang="ko-KR" dirty="0"/>
              <a:t>Username</a:t>
            </a:r>
            <a:r>
              <a:rPr lang="ko-KR" altLang="en-US" dirty="0"/>
              <a:t>이 유효한 경우에만 암호가 </a:t>
            </a:r>
            <a:r>
              <a:rPr lang="ko-KR" altLang="en-US" dirty="0" err="1"/>
              <a:t>올바른지</a:t>
            </a:r>
            <a:r>
              <a:rPr lang="ko-KR" altLang="en-US" dirty="0"/>
              <a:t> 확인할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1C15E-AD5A-467E-B9C0-4CE7584D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28963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09818-1DF6-4A6C-8A57-606DCEC78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Brute-force protection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857AE6-4DFE-4673-AF1D-ABB4CDF1F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Brute force </a:t>
            </a:r>
            <a:r>
              <a:rPr lang="ko-KR" altLang="en-US" dirty="0"/>
              <a:t>공격을 방지하는 두 가지 방법</a:t>
            </a:r>
            <a:endParaRPr lang="en-US" altLang="ko-KR" dirty="0"/>
          </a:p>
          <a:p>
            <a:pPr lvl="1"/>
            <a:r>
              <a:rPr lang="ko-KR" altLang="en-US" dirty="0"/>
              <a:t>너무 많은 로그인 시도가 실패하면 </a:t>
            </a:r>
            <a:r>
              <a:rPr lang="en-US" altLang="ko-KR" dirty="0"/>
              <a:t>account lock</a:t>
            </a:r>
          </a:p>
          <a:p>
            <a:pPr lvl="1"/>
            <a:r>
              <a:rPr lang="ko-KR" altLang="en-US" dirty="0"/>
              <a:t>너무 많은 로그인을 연속으로 시도할 경우 </a:t>
            </a:r>
            <a:r>
              <a:rPr lang="en-US" altLang="ko-KR" dirty="0"/>
              <a:t>IP address block</a:t>
            </a:r>
          </a:p>
          <a:p>
            <a:pPr lvl="1"/>
            <a:r>
              <a:rPr lang="en-US" altLang="ko-KR" dirty="0"/>
              <a:t>User rate limiting</a:t>
            </a:r>
          </a:p>
          <a:p>
            <a:r>
              <a:rPr lang="en-US" altLang="ko-KR" dirty="0"/>
              <a:t>Brute-force</a:t>
            </a:r>
            <a:r>
              <a:rPr lang="ko-KR" altLang="en-US" dirty="0"/>
              <a:t> </a:t>
            </a:r>
            <a:r>
              <a:rPr lang="en-US" altLang="ko-KR" dirty="0"/>
              <a:t>protection</a:t>
            </a:r>
            <a:r>
              <a:rPr lang="ko-KR" altLang="en-US" dirty="0"/>
              <a:t> 에 결함이 있는 경우</a:t>
            </a:r>
            <a:endParaRPr lang="en-US" altLang="ko-KR" dirty="0"/>
          </a:p>
          <a:p>
            <a:pPr lvl="1"/>
            <a:r>
              <a:rPr lang="ko-KR" altLang="en-US" dirty="0"/>
              <a:t>너무 많이 로그인해서 </a:t>
            </a:r>
            <a:r>
              <a:rPr lang="en-US" altLang="ko-KR" dirty="0"/>
              <a:t>IP </a:t>
            </a:r>
            <a:r>
              <a:rPr lang="ko-KR" altLang="en-US" dirty="0"/>
              <a:t>차단이 되었을 때</a:t>
            </a:r>
            <a:r>
              <a:rPr lang="en-US" altLang="ko-KR" dirty="0"/>
              <a:t>, </a:t>
            </a:r>
            <a:r>
              <a:rPr lang="ko-KR" altLang="en-US" dirty="0"/>
              <a:t>일부 구현에서는 </a:t>
            </a:r>
            <a:r>
              <a:rPr lang="en-US" altLang="ko-KR" dirty="0"/>
              <a:t>IP </a:t>
            </a:r>
            <a:r>
              <a:rPr lang="ko-KR" altLang="en-US" dirty="0"/>
              <a:t>소유자가 성공적으로 로그인하면 실패 시도 횟수 초기화</a:t>
            </a:r>
            <a:endParaRPr lang="en-US" altLang="ko-KR" dirty="0"/>
          </a:p>
          <a:p>
            <a:pPr lvl="1"/>
            <a:r>
              <a:rPr lang="ko-KR" altLang="en-US" dirty="0"/>
              <a:t>공격자는 </a:t>
            </a:r>
            <a:r>
              <a:rPr lang="en-US" altLang="ko-KR" dirty="0"/>
              <a:t>brute-force </a:t>
            </a:r>
            <a:r>
              <a:rPr lang="ko-KR" altLang="en-US" dirty="0"/>
              <a:t>공격을 몇 번 시도하다가</a:t>
            </a:r>
            <a:r>
              <a:rPr lang="en-US" altLang="ko-KR" dirty="0"/>
              <a:t>, </a:t>
            </a:r>
            <a:r>
              <a:rPr lang="ko-KR" altLang="en-US" dirty="0"/>
              <a:t>자신의 계정을 로그인해 실패 카운트를 초기화 하고 과정 반복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8F515-0716-4233-BA99-B283576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92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31838-7801-4A7F-BDD8-52475974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Brute-force protection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83F804-94F4-4BD6-90E9-6D9D51C93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 rate limiting</a:t>
            </a:r>
          </a:p>
          <a:p>
            <a:pPr lvl="1"/>
            <a:r>
              <a:rPr lang="en-US" altLang="ko-KR" dirty="0"/>
              <a:t>CAPTCHA</a:t>
            </a:r>
          </a:p>
          <a:p>
            <a:pPr lvl="1"/>
            <a:r>
              <a:rPr lang="ko-KR" altLang="en-US" dirty="0"/>
              <a:t>계정 잠금보다 속도 제한이 선호되는 경우가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구현 방식에 따라</a:t>
            </a:r>
            <a:r>
              <a:rPr lang="en-US" altLang="ko-KR" dirty="0"/>
              <a:t>, </a:t>
            </a:r>
            <a:r>
              <a:rPr lang="ko-KR" altLang="en-US" dirty="0"/>
              <a:t>우회할 수도 있음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92BFA8-2C3B-41E3-8EDA-06DFF15C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CFE4F0-7AD0-43B7-B5E2-64FC2588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05" y="2891299"/>
            <a:ext cx="5466120" cy="29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46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5AEEF-7492-4F7C-B22F-882B6EDA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Burp suite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4BED0-2144-4F6C-BDB4-1F71C368A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https://portswigger.net/support/using-burp-to-brute-force-a-login-page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2F86D9-E61E-4FD4-A1FD-71E63909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51182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85A03-A853-421B-A6C7-02811D80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Portswigger</a:t>
            </a:r>
            <a:r>
              <a:rPr lang="en-US" altLang="ko-KR" dirty="0"/>
              <a:t> </a:t>
            </a:r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89577-3B0D-4AF7-A8E8-39F424A1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https://portswigger.net/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아마도 </a:t>
            </a:r>
            <a:r>
              <a:rPr lang="en-US" altLang="ko-KR" dirty="0"/>
              <a:t>password</a:t>
            </a:r>
            <a:r>
              <a:rPr lang="ko-KR" altLang="en-US" dirty="0"/>
              <a:t>가 이메일로 오는데</a:t>
            </a:r>
            <a:r>
              <a:rPr lang="en-US" altLang="ko-KR" dirty="0"/>
              <a:t>.. </a:t>
            </a:r>
            <a:r>
              <a:rPr lang="ko-KR" altLang="en-US" dirty="0"/>
              <a:t>굉장히 깁니다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수정이 안되는 것 같아서</a:t>
            </a:r>
            <a:r>
              <a:rPr lang="en-US" altLang="ko-KR" dirty="0"/>
              <a:t>, D</a:t>
            </a:r>
            <a:r>
              <a:rPr lang="ko-KR" altLang="en-US" dirty="0"/>
              <a:t>드라이브에 비밀번호를 적어 놓거나 노트북이신 분들은 브라우저에 암호 저장 해두세요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F47C7-2D94-4F15-87DF-BE7AF3D9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49526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A96D3-5402-49CA-8533-43D0D6328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Practical Brute-force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19A29-26C6-4D1E-A1C6-6211B17B5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Lab (lab 3</a:t>
            </a:r>
            <a:r>
              <a:rPr lang="ko-KR" altLang="en-US" dirty="0"/>
              <a:t>개 각 과정을 보고서로 정리하여 제출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Business logic vulnerabilities </a:t>
            </a:r>
          </a:p>
          <a:p>
            <a:pPr lvl="1"/>
            <a:r>
              <a:rPr lang="en-US" altLang="ko-KR" dirty="0">
                <a:hlinkClick r:id="rId2"/>
              </a:rPr>
              <a:t>https://portswigger.net/web-security/logic-flaws/examples/lab-logic-flaws-excessive-trust-in-client-side-controls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https://portswigger.net/web-security/logic-flaws/examples/lab-logic-flaws-high-level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Username enumeration via different responses (</a:t>
            </a:r>
            <a:r>
              <a:rPr lang="ko-KR" altLang="en-US" dirty="0"/>
              <a:t>코드로 구현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hlinkClick r:id="rId4"/>
              </a:rPr>
              <a:t>https://portswigger.net/web-security/authentication/password-based/lab-username-enumeration-via-different-responses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88730D-EE41-428E-B633-93313500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69085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dirty="0" smtClean="0"/>
              <a:pPr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2552</TotalTime>
  <Words>2978</Words>
  <Application>Microsoft Office PowerPoint</Application>
  <PresentationFormat>와이드스크린</PresentationFormat>
  <Paragraphs>516</Paragraphs>
  <Slides>66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67" baseType="lpstr">
      <vt:lpstr>추억</vt:lpstr>
      <vt:lpstr>Web Security 소수전공</vt:lpstr>
      <vt:lpstr>Today</vt:lpstr>
      <vt:lpstr>웹에 대한 이해</vt:lpstr>
      <vt:lpstr>웹에 대한 이해 – URL</vt:lpstr>
      <vt:lpstr>웹에 대한 이해 - 프로토콜</vt:lpstr>
      <vt:lpstr>웹에 대한 이해 - 프로토콜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- HTTP 구조</vt:lpstr>
      <vt:lpstr>웹에 대한 이해 – URL Encoding</vt:lpstr>
      <vt:lpstr>GET과 POST</vt:lpstr>
      <vt:lpstr>GET과 POST</vt:lpstr>
      <vt:lpstr>GET과 POST</vt:lpstr>
      <vt:lpstr>Cookie</vt:lpstr>
      <vt:lpstr>Cookie</vt:lpstr>
      <vt:lpstr>Cookie</vt:lpstr>
      <vt:lpstr>Cookie</vt:lpstr>
      <vt:lpstr>Cookie</vt:lpstr>
      <vt:lpstr>Session</vt:lpstr>
      <vt:lpstr>Cookie와 Session의 차이</vt:lpstr>
      <vt:lpstr>웹에 대한 이해 – Web Proxy</vt:lpstr>
      <vt:lpstr>웹에 대한 이해 – Web Proxy</vt:lpstr>
      <vt:lpstr>웹에 대한 이해 – Web Proxy</vt:lpstr>
      <vt:lpstr>웹에 대한 이해 – Web Proxy</vt:lpstr>
      <vt:lpstr>웹에 대한 이해 – Web Proxy</vt:lpstr>
      <vt:lpstr>웹에 대한 이해 – Web Proxy</vt:lpstr>
      <vt:lpstr>웹에 대한 이해 – Web Proxy</vt:lpstr>
      <vt:lpstr>웹에 대한 이해 – Web Proxy</vt:lpstr>
      <vt:lpstr>PowerPoint 프레젠테이션</vt:lpstr>
      <vt:lpstr>Parameter Tampering</vt:lpstr>
      <vt:lpstr>Parameter Tampering</vt:lpstr>
      <vt:lpstr>Parameter Tampering</vt:lpstr>
      <vt:lpstr>Parameter Tampering</vt:lpstr>
      <vt:lpstr>Parameter Tampering</vt:lpstr>
      <vt:lpstr>Parameter Tampering</vt:lpstr>
      <vt:lpstr>Parameter Tampering</vt:lpstr>
      <vt:lpstr>Parameter Tampering</vt:lpstr>
      <vt:lpstr>Parameter Tampering</vt:lpstr>
      <vt:lpstr>Brute force</vt:lpstr>
      <vt:lpstr>Brute force</vt:lpstr>
      <vt:lpstr>python requests</vt:lpstr>
      <vt:lpstr>python requests</vt:lpstr>
      <vt:lpstr>python requests</vt:lpstr>
      <vt:lpstr>Brute force</vt:lpstr>
      <vt:lpstr>Brute force</vt:lpstr>
      <vt:lpstr>Brute force</vt:lpstr>
      <vt:lpstr>Brute-force protection</vt:lpstr>
      <vt:lpstr>Brute-force protection</vt:lpstr>
      <vt:lpstr>Using Burp suite</vt:lpstr>
      <vt:lpstr>Portswigger 회원가입</vt:lpstr>
      <vt:lpstr>Practical Brute-force 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23</cp:revision>
  <dcterms:created xsi:type="dcterms:W3CDTF">2021-06-24T06:49:54Z</dcterms:created>
  <dcterms:modified xsi:type="dcterms:W3CDTF">2022-12-27T06:17:27Z</dcterms:modified>
</cp:coreProperties>
</file>